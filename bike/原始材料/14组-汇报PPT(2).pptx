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62" r:id="rId2"/>
    <p:sldId id="281" r:id="rId3"/>
    <p:sldId id="282" r:id="rId4"/>
    <p:sldId id="310" r:id="rId5"/>
    <p:sldId id="296" r:id="rId6"/>
    <p:sldId id="290" r:id="rId7"/>
    <p:sldId id="297" r:id="rId8"/>
    <p:sldId id="299" r:id="rId9"/>
    <p:sldId id="298" r:id="rId10"/>
    <p:sldId id="300" r:id="rId11"/>
    <p:sldId id="301" r:id="rId12"/>
    <p:sldId id="291" r:id="rId13"/>
    <p:sldId id="302" r:id="rId14"/>
    <p:sldId id="303" r:id="rId15"/>
    <p:sldId id="292" r:id="rId16"/>
    <p:sldId id="304" r:id="rId17"/>
    <p:sldId id="305" r:id="rId18"/>
    <p:sldId id="307" r:id="rId19"/>
    <p:sldId id="293" r:id="rId20"/>
    <p:sldId id="309" r:id="rId21"/>
    <p:sldId id="311" r:id="rId22"/>
    <p:sldId id="270"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EA2"/>
    <a:srgbClr val="80A4CA"/>
    <a:srgbClr val="158BDB"/>
    <a:srgbClr val="0552A5"/>
    <a:srgbClr val="43516D"/>
    <a:srgbClr val="E6E6E6"/>
    <a:srgbClr val="FFDD89"/>
    <a:srgbClr val="1D1F2B"/>
    <a:srgbClr val="F2F4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8" autoAdjust="0"/>
    <p:restoredTop sz="94660"/>
  </p:normalViewPr>
  <p:slideViewPr>
    <p:cSldViewPr snapToGrid="0" showGuides="1">
      <p:cViewPr>
        <p:scale>
          <a:sx n="73" d="100"/>
          <a:sy n="73" d="100"/>
        </p:scale>
        <p:origin x="63" y="228"/>
      </p:cViewPr>
      <p:guideLst>
        <p:guide orient="horz" pos="2160"/>
        <p:guide pos="3840"/>
      </p:guideLst>
    </p:cSldViewPr>
  </p:slideViewPr>
  <p:notesTextViewPr>
    <p:cViewPr>
      <p:scale>
        <a:sx n="1" d="1"/>
        <a:sy n="1" d="1"/>
      </p:scale>
      <p:origin x="0" y="0"/>
    </p:cViewPr>
  </p:notesTextViewPr>
  <p:notesViewPr>
    <p:cSldViewPr snapToGrid="0">
      <p:cViewPr varScale="1">
        <p:scale>
          <a:sx n="69" d="100"/>
          <a:sy n="69" d="100"/>
        </p:scale>
        <p:origin x="3264"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EDF8A4-6414-41BF-BA7D-EED721D87C32}" type="datetimeFigureOut">
              <a:rPr lang="zh-CN" altLang="en-US" smtClean="0"/>
              <a:t>2024/12/25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EB323D-94E2-4D80-A2A6-17E3CACEB523}"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9308F-A819-486A-8F03-BBCCA34D49D0}" type="datetimeFigureOut">
              <a:rPr lang="zh-CN" altLang="en-US" smtClean="0"/>
              <a:t>2024/12/25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0818-A0AB-46CE-8773-6BCA44FD3D3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kaggle.com/c/bike-sharing-demand/data?select=train.csv"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kaggle.com/c/bike-sharing-demand/data?select=train.csv"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cikit-learn.org/stable/api/sklearn.neural_network.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blog.csdn.net/fengdu78/article/details/127761729"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log.csdn.net/FHY26828/article/details/143973707"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blog.csdn.net/weixin_40519315/article/details/104633238"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blog.csdn.net/fengdu78/article/details/127761729"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Bike Sharing Demand | Kaggle</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90339-3E67-401D-BD2E-5E3BE234AB39}"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25740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Bike Sharing Demand | Kaggle</a:t>
            </a:r>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hlinkClick r:id="rId3"/>
              </a:rPr>
              <a:t>sklearn.neural_network</a:t>
            </a:r>
            <a:r>
              <a:rPr lang="en-US" altLang="zh-CN" dirty="0">
                <a:hlinkClick r:id="rId3"/>
              </a:rPr>
              <a:t> — scikit-learn 1.6.0 documentation</a:t>
            </a:r>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a:t>
            </a:r>
            <a:r>
              <a:rPr lang="zh-CN" altLang="en-US" dirty="0">
                <a:hlinkClick r:id="rId3"/>
              </a:rPr>
              <a:t>机器学习</a:t>
            </a:r>
            <a:r>
              <a:rPr lang="en-US" altLang="zh-CN" dirty="0">
                <a:hlinkClick r:id="rId3"/>
              </a:rPr>
              <a:t>】12</a:t>
            </a:r>
            <a:r>
              <a:rPr lang="zh-CN" altLang="en-US" dirty="0">
                <a:hlinkClick r:id="rId3"/>
              </a:rPr>
              <a:t>种回归评价指标</a:t>
            </a:r>
            <a:r>
              <a:rPr lang="en-US" altLang="zh-CN" dirty="0">
                <a:hlinkClick r:id="rId3"/>
              </a:rPr>
              <a:t>-CSDN</a:t>
            </a:r>
            <a:r>
              <a:rPr lang="zh-CN" altLang="en-US" dirty="0">
                <a:hlinkClick r:id="rId3"/>
              </a:rPr>
              <a:t>博客</a:t>
            </a:r>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a:t>
            </a:r>
            <a:r>
              <a:rPr lang="zh-CN" altLang="en-US" dirty="0">
                <a:hlinkClick r:id="rId3"/>
              </a:rPr>
              <a:t>机器学习</a:t>
            </a:r>
            <a:r>
              <a:rPr lang="en-US" altLang="zh-CN" dirty="0">
                <a:hlinkClick r:id="rId3"/>
              </a:rPr>
              <a:t>】</a:t>
            </a:r>
            <a:r>
              <a:rPr lang="zh-CN" altLang="en-US" dirty="0">
                <a:hlinkClick r:id="rId3"/>
              </a:rPr>
              <a:t>任务十一：</a:t>
            </a:r>
            <a:r>
              <a:rPr lang="en-US" altLang="zh-CN" dirty="0" err="1">
                <a:hlinkClick r:id="rId3"/>
              </a:rPr>
              <a:t>Keras</a:t>
            </a:r>
            <a:r>
              <a:rPr lang="en-US" altLang="zh-CN" dirty="0">
                <a:hlinkClick r:id="rId3"/>
              </a:rPr>
              <a:t> </a:t>
            </a:r>
            <a:r>
              <a:rPr lang="zh-CN" altLang="en-US" dirty="0">
                <a:hlinkClick r:id="rId3"/>
              </a:rPr>
              <a:t>模块的使用</a:t>
            </a:r>
            <a:r>
              <a:rPr lang="en-US" altLang="zh-CN" dirty="0">
                <a:hlinkClick r:id="rId3"/>
              </a:rPr>
              <a:t>_</a:t>
            </a:r>
            <a:r>
              <a:rPr lang="en-US" altLang="zh-CN" dirty="0" err="1">
                <a:hlinkClick r:id="rId3"/>
              </a:rPr>
              <a:t>keras</a:t>
            </a:r>
            <a:r>
              <a:rPr lang="zh-CN" altLang="en-US" dirty="0">
                <a:hlinkClick r:id="rId3"/>
              </a:rPr>
              <a:t>的使用场景</a:t>
            </a:r>
            <a:r>
              <a:rPr lang="en-US" altLang="zh-CN" dirty="0">
                <a:hlinkClick r:id="rId3"/>
              </a:rPr>
              <a:t>-CSDN</a:t>
            </a:r>
            <a:r>
              <a:rPr lang="zh-CN" altLang="en-US" dirty="0">
                <a:hlinkClick r:id="rId3"/>
              </a:rPr>
              <a:t>博客</a:t>
            </a:r>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a:t>
            </a:r>
            <a:r>
              <a:rPr lang="zh-CN" altLang="en-US" dirty="0">
                <a:hlinkClick r:id="rId3"/>
              </a:rPr>
              <a:t>过拟合</a:t>
            </a:r>
            <a:r>
              <a:rPr lang="en-US" altLang="zh-CN" dirty="0">
                <a:hlinkClick r:id="rId3"/>
              </a:rPr>
              <a:t>]</a:t>
            </a:r>
            <a:r>
              <a:rPr lang="zh-CN" altLang="en-US" dirty="0">
                <a:hlinkClick r:id="rId3"/>
              </a:rPr>
              <a:t>早停法 </a:t>
            </a:r>
            <a:r>
              <a:rPr lang="en-US" altLang="zh-CN" dirty="0">
                <a:hlinkClick r:id="rId3"/>
              </a:rPr>
              <a:t>(Early Stopping)_early stopping</a:t>
            </a:r>
            <a:r>
              <a:rPr lang="zh-CN" altLang="en-US" dirty="0">
                <a:hlinkClick r:id="rId3"/>
              </a:rPr>
              <a:t>过拟合</a:t>
            </a:r>
            <a:r>
              <a:rPr lang="en-US" altLang="zh-CN" dirty="0">
                <a:hlinkClick r:id="rId3"/>
              </a:rPr>
              <a:t>-CSDN</a:t>
            </a:r>
            <a:r>
              <a:rPr lang="zh-CN" altLang="en-US" dirty="0">
                <a:hlinkClick r:id="rId3"/>
              </a:rPr>
              <a:t>博客</a:t>
            </a:r>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a:t>
            </a:r>
            <a:r>
              <a:rPr lang="zh-CN" altLang="en-US" dirty="0">
                <a:hlinkClick r:id="rId3"/>
              </a:rPr>
              <a:t>机器学习</a:t>
            </a:r>
            <a:r>
              <a:rPr lang="en-US" altLang="zh-CN" dirty="0">
                <a:hlinkClick r:id="rId3"/>
              </a:rPr>
              <a:t>】12</a:t>
            </a:r>
            <a:r>
              <a:rPr lang="zh-CN" altLang="en-US" dirty="0">
                <a:hlinkClick r:id="rId3"/>
              </a:rPr>
              <a:t>种回归评价指标</a:t>
            </a:r>
            <a:r>
              <a:rPr lang="en-US" altLang="zh-CN" dirty="0">
                <a:hlinkClick r:id="rId3"/>
              </a:rPr>
              <a:t>-CSDN</a:t>
            </a:r>
            <a:r>
              <a:rPr lang="zh-CN" altLang="en-US" dirty="0">
                <a:hlinkClick r:id="rId3"/>
              </a:rPr>
              <a:t>博客</a:t>
            </a:r>
            <a:endParaRPr lang="zh-CN" altLang="en-US" dirty="0"/>
          </a:p>
        </p:txBody>
      </p:sp>
      <p:sp>
        <p:nvSpPr>
          <p:cNvPr id="4" name="灯片编号占位符 3"/>
          <p:cNvSpPr>
            <a:spLocks noGrp="1"/>
          </p:cNvSpPr>
          <p:nvPr>
            <p:ph type="sldNum" sz="quarter" idx="5"/>
          </p:nvPr>
        </p:nvSpPr>
        <p:spPr/>
        <p:txBody>
          <a:bodyPr/>
          <a:lstStyle/>
          <a:p>
            <a:fld id="{C4190339-3E67-401D-BD2E-5E3BE234AB39}" type="slidenum">
              <a:rPr lang="zh-CN" altLang="en-US" smtClean="0"/>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4190339-3E67-401D-BD2E-5E3BE234AB39}"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90339-3E67-401D-BD2E-5E3BE234AB39}"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0703185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白">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577048"/>
            <a:ext cx="12192000" cy="280952"/>
          </a:xfrm>
          <a:prstGeom prst="rect">
            <a:avLst/>
          </a:prstGeom>
        </p:spPr>
      </p:pic>
      <p:sp>
        <p:nvSpPr>
          <p:cNvPr id="9" name="标题文本"/>
          <p:cNvSpPr txBox="1">
            <a:spLocks noGrp="1"/>
          </p:cNvSpPr>
          <p:nvPr>
            <p:ph type="title" hasCustomPrompt="1"/>
          </p:nvPr>
        </p:nvSpPr>
        <p:spPr>
          <a:xfrm>
            <a:off x="889000" y="2008367"/>
            <a:ext cx="10414001" cy="1387976"/>
          </a:xfrm>
          <a:prstGeom prst="rect">
            <a:avLst/>
          </a:prstGeom>
        </p:spPr>
        <p:txBody>
          <a:bodyPr>
            <a:normAutofit/>
          </a:bodyPr>
          <a:lstStyle>
            <a:lvl1pPr marL="0" indent="0" algn="ctr" defTabSz="914400" rtl="0" eaLnBrk="1" latinLnBrk="0" hangingPunct="1">
              <a:lnSpc>
                <a:spcPct val="90000"/>
              </a:lnSpc>
              <a:spcBef>
                <a:spcPts val="2835"/>
              </a:spcBef>
              <a:buClr>
                <a:srgbClr val="FFFFFF"/>
              </a:buClr>
              <a:buSzPct val="150000"/>
              <a:buFontTx/>
              <a:buNone/>
              <a:defRPr sz="4400" b="1" kern="1200" spc="76" dirty="0">
                <a:solidFill>
                  <a:srgbClr val="004EA2"/>
                </a:solidFill>
                <a:latin typeface="微软雅黑" panose="020B0503020204020204" pitchFamily="34" charset="-122"/>
                <a:ea typeface="微软雅黑" panose="020B0503020204020204" pitchFamily="34" charset="-122"/>
                <a:cs typeface="+mj-cs"/>
              </a:defRPr>
            </a:lvl1pPr>
          </a:lstStyle>
          <a:p>
            <a:r>
              <a:rPr dirty="0" err="1"/>
              <a:t>标题文本</a:t>
            </a:r>
            <a:endParaRPr dirty="0"/>
          </a:p>
        </p:txBody>
      </p:sp>
      <p:pic>
        <p:nvPicPr>
          <p:cNvPr id="8" name="图片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29125" y="365121"/>
            <a:ext cx="1762125" cy="571500"/>
          </a:xfrm>
          <a:prstGeom prst="rect">
            <a:avLst/>
          </a:prstGeom>
        </p:spPr>
      </p:pic>
      <p:pic>
        <p:nvPicPr>
          <p:cNvPr id="2" name="图片 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328767" y="6001930"/>
            <a:ext cx="4188315" cy="38408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标题 1"/>
          <p:cNvSpPr>
            <a:spLocks noGrp="1"/>
          </p:cNvSpPr>
          <p:nvPr>
            <p:ph type="title" hasCustomPrompt="1"/>
          </p:nvPr>
        </p:nvSpPr>
        <p:spPr>
          <a:xfrm>
            <a:off x="0" y="1266092"/>
            <a:ext cx="12192000" cy="4794739"/>
          </a:xfrm>
        </p:spPr>
        <p:txBody>
          <a:bodyPr>
            <a:normAutofit fontScale="90000"/>
          </a:bodyPr>
          <a:lstStyle>
            <a:lvl1pPr>
              <a:defRPr sz="3200">
                <a:solidFill>
                  <a:srgbClr val="004EA2"/>
                </a:solidFill>
                <a:latin typeface="微软雅黑" panose="020B0503020204020204" pitchFamily="34" charset="-122"/>
                <a:ea typeface="微软雅黑" panose="020B0503020204020204" pitchFamily="34" charset="-122"/>
              </a:defRPr>
            </a:lvl1pPr>
          </a:lstStyle>
          <a:p>
            <a:pPr algn="ctr"/>
            <a:r>
              <a:rPr lang="en-US" altLang="zh-CN" b="1" spc="100" dirty="0"/>
              <a:t>1</a:t>
            </a:r>
            <a:r>
              <a:rPr lang="zh-CN" altLang="en-US" b="1" spc="100" dirty="0"/>
              <a:t>、这里是目录</a:t>
            </a:r>
            <a:br>
              <a:rPr lang="en-US" altLang="zh-CN" b="1" spc="100" dirty="0"/>
            </a:br>
            <a:br>
              <a:rPr lang="en-US" altLang="zh-CN" b="1" spc="100" dirty="0"/>
            </a:br>
            <a:r>
              <a:rPr lang="en-US" altLang="zh-CN" b="1" spc="100" dirty="0"/>
              <a:t>2</a:t>
            </a:r>
            <a:r>
              <a:rPr lang="zh-CN" altLang="en-US" b="1" spc="100" dirty="0"/>
              <a:t>、这里是目录</a:t>
            </a:r>
            <a:br>
              <a:rPr lang="en-US" altLang="zh-CN" b="1" spc="100" dirty="0"/>
            </a:br>
            <a:br>
              <a:rPr lang="en-US" altLang="zh-CN" b="1" spc="100" dirty="0"/>
            </a:br>
            <a:r>
              <a:rPr lang="en-US" altLang="zh-CN" b="1" spc="100" dirty="0"/>
              <a:t>3</a:t>
            </a:r>
            <a:r>
              <a:rPr lang="zh-CN" altLang="en-US" b="1" spc="100" dirty="0"/>
              <a:t>、这里是目录</a:t>
            </a:r>
            <a:br>
              <a:rPr lang="en-US" altLang="zh-CN" b="1" spc="100" dirty="0"/>
            </a:br>
            <a:br>
              <a:rPr lang="en-US" altLang="zh-CN" b="1" spc="100" dirty="0"/>
            </a:br>
            <a:r>
              <a:rPr lang="en-US" altLang="zh-CN" b="1" spc="100" dirty="0"/>
              <a:t>4</a:t>
            </a:r>
            <a:r>
              <a:rPr lang="zh-CN" altLang="en-US" b="1" spc="100" dirty="0"/>
              <a:t>、这里是目录</a:t>
            </a:r>
            <a:br>
              <a:rPr lang="en-US" altLang="zh-CN" b="1" spc="100" dirty="0"/>
            </a:br>
            <a:br>
              <a:rPr lang="en-US" altLang="zh-CN" b="1" spc="100" dirty="0"/>
            </a:br>
            <a:r>
              <a:rPr lang="en-US" altLang="zh-CN" b="1" spc="100" dirty="0"/>
              <a:t>5</a:t>
            </a:r>
            <a:r>
              <a:rPr lang="zh-CN" altLang="en-US" b="1" spc="100" dirty="0"/>
              <a:t>、这里是目录</a:t>
            </a:r>
            <a:br>
              <a:rPr lang="zh-CN" altLang="en-US" dirty="0">
                <a:latin typeface="+mj-ea"/>
              </a:rPr>
            </a:b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标题 版式1- 居中">
    <p:spTree>
      <p:nvGrpSpPr>
        <p:cNvPr id="1" name=""/>
        <p:cNvGrpSpPr/>
        <p:nvPr/>
      </p:nvGrpSpPr>
      <p:grpSpPr>
        <a:xfrm>
          <a:off x="0" y="0"/>
          <a:ext cx="0" cy="0"/>
          <a:chOff x="0" y="0"/>
          <a:chExt cx="0" cy="0"/>
        </a:xfrm>
      </p:grpSpPr>
      <p:sp>
        <p:nvSpPr>
          <p:cNvPr id="31" name="标题文本"/>
          <p:cNvSpPr txBox="1">
            <a:spLocks noGrp="1"/>
          </p:cNvSpPr>
          <p:nvPr>
            <p:ph type="title" hasCustomPrompt="1"/>
          </p:nvPr>
        </p:nvSpPr>
        <p:spPr>
          <a:xfrm>
            <a:off x="889000" y="1993853"/>
            <a:ext cx="10414001" cy="2325126"/>
          </a:xfrm>
          <a:prstGeom prst="rect">
            <a:avLst/>
          </a:prstGeom>
        </p:spPr>
        <p:txBody>
          <a:bodyPr>
            <a:normAutofit/>
          </a:bodyPr>
          <a:lstStyle>
            <a:lvl1pPr marL="0" indent="0" algn="ctr" defTabSz="914400" rtl="0" eaLnBrk="1" latinLnBrk="0" hangingPunct="1">
              <a:lnSpc>
                <a:spcPct val="90000"/>
              </a:lnSpc>
              <a:spcBef>
                <a:spcPts val="2835"/>
              </a:spcBef>
              <a:buClr>
                <a:srgbClr val="FFFFFF"/>
              </a:buClr>
              <a:buSzPct val="150000"/>
              <a:buFontTx/>
              <a:buNone/>
              <a:defRPr sz="3600" b="1" kern="1200" spc="76" dirty="0">
                <a:solidFill>
                  <a:srgbClr val="004EA2"/>
                </a:solidFill>
                <a:latin typeface="微软雅黑" panose="020B0503020204020204" pitchFamily="34" charset="-122"/>
                <a:ea typeface="微软雅黑" panose="020B0503020204020204" pitchFamily="34" charset="-122"/>
                <a:cs typeface="+mj-cs"/>
              </a:defRPr>
            </a:lvl1pPr>
          </a:lstStyle>
          <a:p>
            <a:r>
              <a:rPr lang="zh-CN" altLang="en-US" dirty="0"/>
              <a:t>居中</a:t>
            </a:r>
            <a:r>
              <a:rPr dirty="0" err="1"/>
              <a:t>标题</a:t>
            </a: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 版式2- icon">
    <p:spTree>
      <p:nvGrpSpPr>
        <p:cNvPr id="1" name=""/>
        <p:cNvGrpSpPr/>
        <p:nvPr/>
      </p:nvGrpSpPr>
      <p:grpSpPr>
        <a:xfrm>
          <a:off x="0" y="0"/>
          <a:ext cx="0" cy="0"/>
          <a:chOff x="0" y="0"/>
          <a:chExt cx="0" cy="0"/>
        </a:xfrm>
      </p:grpSpPr>
      <p:sp>
        <p:nvSpPr>
          <p:cNvPr id="6" name="产品发布/机构成立"/>
          <p:cNvSpPr txBox="1"/>
          <p:nvPr userDrawn="1"/>
        </p:nvSpPr>
        <p:spPr>
          <a:xfrm>
            <a:off x="5698654" y="2891070"/>
            <a:ext cx="3018971" cy="645281"/>
          </a:xfrm>
          <a:prstGeom prst="rect">
            <a:avLst/>
          </a:prstGeom>
        </p:spPr>
        <p:txBody>
          <a:bodyPr/>
          <a:lstStyle>
            <a:lvl1pPr algn="l" defTabSz="914400" rtl="0" eaLnBrk="1" latinLnBrk="0" hangingPunct="1">
              <a:lnSpc>
                <a:spcPct val="90000"/>
              </a:lnSpc>
              <a:spcBef>
                <a:spcPct val="0"/>
              </a:spcBef>
              <a:buNone/>
              <a:defRPr sz="4400" kern="1200" spc="200">
                <a:solidFill>
                  <a:schemeClr val="tx1"/>
                </a:solidFill>
                <a:latin typeface="+mj-lt"/>
                <a:ea typeface="+mj-ea"/>
                <a:cs typeface="+mj-cs"/>
              </a:defRPr>
            </a:lvl1pPr>
          </a:lstStyle>
          <a:p>
            <a:endParaRPr lang="zh-CN" altLang="en-US" sz="3600" b="1" dirty="0">
              <a:solidFill>
                <a:srgbClr val="004EA2"/>
              </a:solidFill>
              <a:latin typeface="微软雅黑" panose="020B0503020204020204" pitchFamily="34" charset="-122"/>
              <a:ea typeface="微软雅黑" panose="020B0503020204020204" pitchFamily="34" charset="-122"/>
            </a:endParaRPr>
          </a:p>
        </p:txBody>
      </p:sp>
      <p:sp>
        <p:nvSpPr>
          <p:cNvPr id="8" name="线条"/>
          <p:cNvSpPr/>
          <p:nvPr userDrawn="1"/>
        </p:nvSpPr>
        <p:spPr>
          <a:xfrm>
            <a:off x="5238080" y="2617515"/>
            <a:ext cx="1578" cy="1194259"/>
          </a:xfrm>
          <a:prstGeom prst="line">
            <a:avLst/>
          </a:prstGeom>
          <a:ln w="57150">
            <a:solidFill>
              <a:srgbClr val="004EA2">
                <a:alpha val="80000"/>
              </a:srgbClr>
            </a:solidFill>
            <a:prstDash val="solid"/>
            <a:miter lim="400000"/>
          </a:ln>
        </p:spPr>
        <p:txBody>
          <a:bodyPr lIns="45718" tIns="45718" rIns="45718" bIns="45718"/>
          <a:lstStyle/>
          <a:p>
            <a:pPr>
              <a:defRPr>
                <a:solidFill>
                  <a:srgbClr val="FFFFFF"/>
                </a:solidFill>
              </a:defRPr>
            </a:pPr>
            <a:endParaRPr b="1" dirty="0">
              <a:solidFill>
                <a:srgbClr val="004EA2"/>
              </a:solidFill>
            </a:endParaRPr>
          </a:p>
        </p:txBody>
      </p:sp>
      <p:sp>
        <p:nvSpPr>
          <p:cNvPr id="10" name="右侧可放产品icon/机构logo述"/>
          <p:cNvSpPr txBox="1"/>
          <p:nvPr userDrawn="1"/>
        </p:nvSpPr>
        <p:spPr>
          <a:xfrm>
            <a:off x="5698654" y="3506662"/>
            <a:ext cx="5570508" cy="4223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1600" dirty="0">
              <a:solidFill>
                <a:srgbClr val="004EA2"/>
              </a:solidFill>
              <a:latin typeface="微软雅黑" panose="020B0503020204020204" pitchFamily="34" charset="-122"/>
              <a:ea typeface="微软雅黑" panose="020B0503020204020204" pitchFamily="34" charset="-122"/>
            </a:endParaRPr>
          </a:p>
        </p:txBody>
      </p:sp>
      <p:sp>
        <p:nvSpPr>
          <p:cNvPr id="12" name="图片占位符 11"/>
          <p:cNvSpPr>
            <a:spLocks noGrp="1"/>
          </p:cNvSpPr>
          <p:nvPr>
            <p:ph type="pic" sz="quarter" idx="10"/>
          </p:nvPr>
        </p:nvSpPr>
        <p:spPr>
          <a:xfrm>
            <a:off x="3208132" y="2617974"/>
            <a:ext cx="1570952" cy="1193800"/>
          </a:xfrm>
          <a:solidFill>
            <a:srgbClr val="004EA2"/>
          </a:solidFill>
        </p:spPr>
        <p:txBody>
          <a:bodyPr/>
          <a:lstStyle>
            <a:lvl1pPr>
              <a:defRPr>
                <a:solidFill>
                  <a:srgbClr val="004EA2"/>
                </a:solidFill>
              </a:defRPr>
            </a:lvl1p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分级文本版式1 ">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1061812"/>
            <a:ext cx="10515600" cy="1325563"/>
          </a:xfrm>
        </p:spPr>
        <p:txBody>
          <a:bodyPr/>
          <a:lstStyle>
            <a:lvl1pPr algn="ctr">
              <a:defRPr b="1">
                <a:solidFill>
                  <a:srgbClr val="004EA2"/>
                </a:solidFill>
                <a:latin typeface="微软雅黑" panose="020B0503020204020204" pitchFamily="34" charset="-122"/>
                <a:ea typeface="微软雅黑" panose="020B0503020204020204" pitchFamily="34" charset="-122"/>
              </a:defRPr>
            </a:lvl1pPr>
          </a:lstStyle>
          <a:p>
            <a:r>
              <a:rPr lang="zh-CN" altLang="en-US" dirty="0"/>
              <a:t>标题文本</a:t>
            </a:r>
          </a:p>
        </p:txBody>
      </p:sp>
      <p:sp>
        <p:nvSpPr>
          <p:cNvPr id="6" name="内容占位符 2"/>
          <p:cNvSpPr>
            <a:spLocks noGrp="1"/>
          </p:cNvSpPr>
          <p:nvPr>
            <p:ph idx="1" hasCustomPrompt="1"/>
          </p:nvPr>
        </p:nvSpPr>
        <p:spPr>
          <a:xfrm>
            <a:off x="838200" y="2387375"/>
            <a:ext cx="10515600" cy="3789588"/>
          </a:xfrm>
        </p:spPr>
        <p:txBody>
          <a:bodyPr/>
          <a:lstStyle>
            <a:lvl1pPr>
              <a:defRPr>
                <a:solidFill>
                  <a:srgbClr val="004EA2"/>
                </a:solidFill>
                <a:latin typeface="微软雅黑" panose="020B0503020204020204" pitchFamily="34" charset="-122"/>
                <a:ea typeface="微软雅黑" panose="020B0503020204020204" pitchFamily="34" charset="-122"/>
              </a:defRPr>
            </a:lvl1pPr>
            <a:lvl2pPr>
              <a:defRPr>
                <a:solidFill>
                  <a:srgbClr val="004EA2"/>
                </a:solidFill>
                <a:latin typeface="微软雅黑" panose="020B0503020204020204" pitchFamily="34" charset="-122"/>
                <a:ea typeface="微软雅黑" panose="020B0503020204020204" pitchFamily="34" charset="-122"/>
              </a:defRPr>
            </a:lvl2pPr>
            <a:lvl3pPr>
              <a:defRPr>
                <a:solidFill>
                  <a:srgbClr val="004EA2"/>
                </a:solidFill>
                <a:latin typeface="微软雅黑" panose="020B0503020204020204" pitchFamily="34" charset="-122"/>
                <a:ea typeface="微软雅黑" panose="020B0503020204020204" pitchFamily="34" charset="-122"/>
              </a:defRPr>
            </a:lvl3pPr>
            <a:lvl4pPr>
              <a:defRPr>
                <a:solidFill>
                  <a:srgbClr val="004EA2"/>
                </a:solidFill>
                <a:latin typeface="微软雅黑" panose="020B0503020204020204" pitchFamily="34" charset="-122"/>
                <a:ea typeface="微软雅黑" panose="020B0503020204020204" pitchFamily="34" charset="-122"/>
              </a:defRPr>
            </a:lvl4pPr>
            <a:lvl5pPr>
              <a:defRPr>
                <a:solidFill>
                  <a:srgbClr val="004EA2"/>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分级文本版式2">
    <p:spTree>
      <p:nvGrpSpPr>
        <p:cNvPr id="1" name=""/>
        <p:cNvGrpSpPr/>
        <p:nvPr/>
      </p:nvGrpSpPr>
      <p:grpSpPr>
        <a:xfrm>
          <a:off x="0" y="0"/>
          <a:ext cx="0" cy="0"/>
          <a:chOff x="0" y="0"/>
          <a:chExt cx="0" cy="0"/>
        </a:xfrm>
      </p:grpSpPr>
      <p:sp>
        <p:nvSpPr>
          <p:cNvPr id="7" name="文本占位符 2"/>
          <p:cNvSpPr>
            <a:spLocks noGrp="1"/>
          </p:cNvSpPr>
          <p:nvPr>
            <p:ph type="body" idx="1" hasCustomPrompt="1"/>
          </p:nvPr>
        </p:nvSpPr>
        <p:spPr>
          <a:xfrm>
            <a:off x="839788" y="2421397"/>
            <a:ext cx="5157787" cy="823912"/>
          </a:xfrm>
        </p:spPr>
        <p:txBody>
          <a:bodyPr anchor="b"/>
          <a:lstStyle>
            <a:lvl1pPr marL="0" indent="0">
              <a:buNone/>
              <a:defRPr sz="2400" b="1">
                <a:solidFill>
                  <a:srgbClr val="004EA2"/>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小标题文本</a:t>
            </a:r>
          </a:p>
        </p:txBody>
      </p:sp>
      <p:sp>
        <p:nvSpPr>
          <p:cNvPr id="8" name="内容占位符 3"/>
          <p:cNvSpPr>
            <a:spLocks noGrp="1"/>
          </p:cNvSpPr>
          <p:nvPr>
            <p:ph sz="half" idx="2" hasCustomPrompt="1"/>
          </p:nvPr>
        </p:nvSpPr>
        <p:spPr>
          <a:xfrm>
            <a:off x="839788" y="3418113"/>
            <a:ext cx="5157787" cy="2771549"/>
          </a:xfrm>
        </p:spPr>
        <p:txBody>
          <a:bodyPr/>
          <a:lstStyle>
            <a:lvl1pPr>
              <a:defRPr>
                <a:solidFill>
                  <a:srgbClr val="004EA2"/>
                </a:solidFill>
                <a:latin typeface="微软雅黑" panose="020B0503020204020204" pitchFamily="34" charset="-122"/>
                <a:ea typeface="微软雅黑" panose="020B0503020204020204" pitchFamily="34" charset="-122"/>
              </a:defRPr>
            </a:lvl1pPr>
            <a:lvl2pPr>
              <a:defRPr>
                <a:solidFill>
                  <a:srgbClr val="004EA2"/>
                </a:solidFill>
                <a:latin typeface="微软雅黑" panose="020B0503020204020204" pitchFamily="34" charset="-122"/>
                <a:ea typeface="微软雅黑" panose="020B0503020204020204" pitchFamily="34" charset="-122"/>
              </a:defRPr>
            </a:lvl2pPr>
            <a:lvl3pPr>
              <a:defRPr>
                <a:solidFill>
                  <a:srgbClr val="004EA2"/>
                </a:solidFill>
                <a:latin typeface="微软雅黑" panose="020B0503020204020204" pitchFamily="34" charset="-122"/>
                <a:ea typeface="微软雅黑" panose="020B0503020204020204" pitchFamily="34" charset="-122"/>
              </a:defRPr>
            </a:lvl3pPr>
            <a:lvl4pPr>
              <a:defRPr>
                <a:solidFill>
                  <a:srgbClr val="004EA2"/>
                </a:solidFill>
                <a:latin typeface="微软雅黑" panose="020B0503020204020204" pitchFamily="34" charset="-122"/>
                <a:ea typeface="微软雅黑" panose="020B0503020204020204" pitchFamily="34" charset="-122"/>
              </a:defRPr>
            </a:lvl4pPr>
            <a:lvl5pPr>
              <a:defRPr>
                <a:solidFill>
                  <a:srgbClr val="004EA2"/>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4"/>
          <p:cNvSpPr>
            <a:spLocks noGrp="1"/>
          </p:cNvSpPr>
          <p:nvPr>
            <p:ph type="body" sz="quarter" idx="3" hasCustomPrompt="1"/>
          </p:nvPr>
        </p:nvSpPr>
        <p:spPr>
          <a:xfrm>
            <a:off x="6172200" y="2421397"/>
            <a:ext cx="5183188" cy="823912"/>
          </a:xfrm>
        </p:spPr>
        <p:txBody>
          <a:bodyPr anchor="b"/>
          <a:lstStyle>
            <a:lvl1pPr marL="0" indent="0">
              <a:buNone/>
              <a:defRPr sz="2400" b="1">
                <a:solidFill>
                  <a:srgbClr val="004EA2"/>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小标题文本</a:t>
            </a:r>
          </a:p>
        </p:txBody>
      </p:sp>
      <p:sp>
        <p:nvSpPr>
          <p:cNvPr id="10" name="内容占位符 5"/>
          <p:cNvSpPr>
            <a:spLocks noGrp="1"/>
          </p:cNvSpPr>
          <p:nvPr>
            <p:ph sz="quarter" idx="4" hasCustomPrompt="1"/>
          </p:nvPr>
        </p:nvSpPr>
        <p:spPr>
          <a:xfrm>
            <a:off x="6172200" y="3418113"/>
            <a:ext cx="5183188" cy="2771550"/>
          </a:xfrm>
        </p:spPr>
        <p:txBody>
          <a:bodyPr/>
          <a:lstStyle>
            <a:lvl1pPr>
              <a:defRPr>
                <a:solidFill>
                  <a:srgbClr val="004EA2"/>
                </a:solidFill>
                <a:latin typeface="微软雅黑" panose="020B0503020204020204" pitchFamily="34" charset="-122"/>
                <a:ea typeface="微软雅黑" panose="020B0503020204020204" pitchFamily="34" charset="-122"/>
              </a:defRPr>
            </a:lvl1pPr>
            <a:lvl2pPr>
              <a:defRPr>
                <a:solidFill>
                  <a:srgbClr val="004EA2"/>
                </a:solidFill>
                <a:latin typeface="微软雅黑" panose="020B0503020204020204" pitchFamily="34" charset="-122"/>
                <a:ea typeface="微软雅黑" panose="020B0503020204020204" pitchFamily="34" charset="-122"/>
              </a:defRPr>
            </a:lvl2pPr>
            <a:lvl3pPr>
              <a:defRPr>
                <a:solidFill>
                  <a:srgbClr val="004EA2"/>
                </a:solidFill>
                <a:latin typeface="微软雅黑" panose="020B0503020204020204" pitchFamily="34" charset="-122"/>
                <a:ea typeface="微软雅黑" panose="020B0503020204020204" pitchFamily="34" charset="-122"/>
              </a:defRPr>
            </a:lvl3pPr>
            <a:lvl4pPr>
              <a:defRPr>
                <a:solidFill>
                  <a:srgbClr val="004EA2"/>
                </a:solidFill>
                <a:latin typeface="微软雅黑" panose="020B0503020204020204" pitchFamily="34" charset="-122"/>
                <a:ea typeface="微软雅黑" panose="020B0503020204020204" pitchFamily="34" charset="-122"/>
              </a:defRPr>
            </a:lvl4pPr>
            <a:lvl5pPr>
              <a:defRPr>
                <a:solidFill>
                  <a:srgbClr val="004EA2"/>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标题 1"/>
          <p:cNvSpPr>
            <a:spLocks noGrp="1"/>
          </p:cNvSpPr>
          <p:nvPr>
            <p:ph type="title" hasCustomPrompt="1"/>
          </p:nvPr>
        </p:nvSpPr>
        <p:spPr>
          <a:xfrm>
            <a:off x="838200" y="1061812"/>
            <a:ext cx="10515600" cy="1325563"/>
          </a:xfrm>
        </p:spPr>
        <p:txBody>
          <a:bodyPr/>
          <a:lstStyle>
            <a:lvl1pPr algn="ctr">
              <a:defRPr b="1">
                <a:solidFill>
                  <a:srgbClr val="004EA2"/>
                </a:solidFill>
                <a:latin typeface="微软雅黑" panose="020B0503020204020204" pitchFamily="34" charset="-122"/>
                <a:ea typeface="微软雅黑" panose="020B0503020204020204" pitchFamily="34" charset="-122"/>
              </a:defRPr>
            </a:lvl1pPr>
          </a:lstStyle>
          <a:p>
            <a:r>
              <a:rPr lang="zh-CN" altLang="en-US" dirty="0"/>
              <a:t>这是并列文本版式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7" name="最多不要超过五个优势点，下图可配icon"/>
          <p:cNvSpPr txBox="1">
            <a:spLocks noGrp="1"/>
          </p:cNvSpPr>
          <p:nvPr>
            <p:ph type="body" sz="quarter" idx="1" hasCustomPrompt="1"/>
          </p:nvPr>
        </p:nvSpPr>
        <p:spPr>
          <a:xfrm>
            <a:off x="0" y="2329542"/>
            <a:ext cx="12191999" cy="1069281"/>
          </a:xfrm>
          <a:prstGeom prst="rect">
            <a:avLst/>
          </a:prstGeom>
        </p:spPr>
        <p:txBody>
          <a:bodyPr>
            <a:normAutofit/>
          </a:bodyPr>
          <a:lstStyle>
            <a:lvl1pPr marL="0" indent="0" algn="ctr">
              <a:buNone/>
              <a:defRPr sz="2000" spc="0">
                <a:solidFill>
                  <a:srgbClr val="004EA2"/>
                </a:solidFill>
                <a:latin typeface="微软雅黑" panose="020B0503020204020204" pitchFamily="34" charset="-122"/>
                <a:ea typeface="微软雅黑" panose="020B0503020204020204" pitchFamily="34" charset="-122"/>
              </a:defRPr>
            </a:lvl1pPr>
          </a:lstStyle>
          <a:p>
            <a:r>
              <a:rPr dirty="0" err="1"/>
              <a:t>最多不要超过五个</a:t>
            </a:r>
            <a:r>
              <a:rPr lang="zh-CN" altLang="en-US" dirty="0"/>
              <a:t>并列</a:t>
            </a:r>
            <a:r>
              <a:rPr dirty="0" err="1"/>
              <a:t>点，下图可配icon</a:t>
            </a:r>
            <a:endParaRPr dirty="0"/>
          </a:p>
        </p:txBody>
      </p:sp>
      <p:sp>
        <p:nvSpPr>
          <p:cNvPr id="8" name="图片占位符 14"/>
          <p:cNvSpPr>
            <a:spLocks noGrp="1"/>
          </p:cNvSpPr>
          <p:nvPr>
            <p:ph type="pic" sz="quarter" idx="13"/>
          </p:nvPr>
        </p:nvSpPr>
        <p:spPr>
          <a:xfrm>
            <a:off x="2732537" y="3101975"/>
            <a:ext cx="1044575" cy="838200"/>
          </a:xfrm>
          <a:solidFill>
            <a:srgbClr val="004EA2"/>
          </a:solidFill>
        </p:spPr>
        <p:txBody>
          <a:bodyPr>
            <a:normAutofit/>
          </a:bodyPr>
          <a:lstStyle>
            <a:lvl1pPr>
              <a:defRPr sz="1600">
                <a:solidFill>
                  <a:srgbClr val="004EA2"/>
                </a:solidFill>
              </a:defRPr>
            </a:lvl1pPr>
          </a:lstStyle>
          <a:p>
            <a:endParaRPr lang="zh-CN" altLang="en-US" dirty="0"/>
          </a:p>
        </p:txBody>
      </p:sp>
      <p:sp>
        <p:nvSpPr>
          <p:cNvPr id="9" name="图片占位符 14"/>
          <p:cNvSpPr>
            <a:spLocks noGrp="1"/>
          </p:cNvSpPr>
          <p:nvPr>
            <p:ph type="pic" sz="quarter" idx="14"/>
          </p:nvPr>
        </p:nvSpPr>
        <p:spPr>
          <a:xfrm>
            <a:off x="8404320" y="3101975"/>
            <a:ext cx="1044575" cy="838200"/>
          </a:xfrm>
          <a:solidFill>
            <a:srgbClr val="004EA2"/>
          </a:solidFill>
        </p:spPr>
        <p:txBody>
          <a:bodyPr>
            <a:normAutofit/>
          </a:bodyPr>
          <a:lstStyle>
            <a:lvl1pPr>
              <a:defRPr sz="1600">
                <a:solidFill>
                  <a:srgbClr val="004EA2"/>
                </a:solidFill>
              </a:defRPr>
            </a:lvl1pPr>
          </a:lstStyle>
          <a:p>
            <a:endParaRPr lang="zh-CN" altLang="en-US" dirty="0"/>
          </a:p>
        </p:txBody>
      </p:sp>
      <p:sp>
        <p:nvSpPr>
          <p:cNvPr id="10" name="图片占位符 14"/>
          <p:cNvSpPr>
            <a:spLocks noGrp="1"/>
          </p:cNvSpPr>
          <p:nvPr>
            <p:ph type="pic" sz="quarter" idx="15"/>
          </p:nvPr>
        </p:nvSpPr>
        <p:spPr>
          <a:xfrm>
            <a:off x="6509869" y="3101975"/>
            <a:ext cx="1044575" cy="838200"/>
          </a:xfrm>
          <a:solidFill>
            <a:srgbClr val="004EA2"/>
          </a:solidFill>
        </p:spPr>
        <p:txBody>
          <a:bodyPr>
            <a:normAutofit/>
          </a:bodyPr>
          <a:lstStyle>
            <a:lvl1pPr>
              <a:defRPr sz="1600">
                <a:solidFill>
                  <a:srgbClr val="004EA2"/>
                </a:solidFill>
              </a:defRPr>
            </a:lvl1pPr>
          </a:lstStyle>
          <a:p>
            <a:endParaRPr lang="zh-CN" altLang="en-US" dirty="0"/>
          </a:p>
        </p:txBody>
      </p:sp>
      <p:sp>
        <p:nvSpPr>
          <p:cNvPr id="11" name="图片占位符 14"/>
          <p:cNvSpPr>
            <a:spLocks noGrp="1"/>
          </p:cNvSpPr>
          <p:nvPr>
            <p:ph type="pic" sz="quarter" idx="16"/>
          </p:nvPr>
        </p:nvSpPr>
        <p:spPr>
          <a:xfrm>
            <a:off x="4621203" y="3101975"/>
            <a:ext cx="1044575" cy="838200"/>
          </a:xfrm>
          <a:solidFill>
            <a:srgbClr val="004EA2"/>
          </a:solidFill>
        </p:spPr>
        <p:txBody>
          <a:bodyPr>
            <a:normAutofit/>
          </a:bodyPr>
          <a:lstStyle>
            <a:lvl1pPr>
              <a:defRPr sz="1600">
                <a:solidFill>
                  <a:srgbClr val="004EA2"/>
                </a:solidFill>
              </a:defRPr>
            </a:lvl1pPr>
          </a:lstStyle>
          <a:p>
            <a:endParaRPr lang="zh-CN" altLang="en-US" dirty="0"/>
          </a:p>
        </p:txBody>
      </p:sp>
      <p:sp>
        <p:nvSpPr>
          <p:cNvPr id="12" name="文本占位符 19"/>
          <p:cNvSpPr>
            <a:spLocks noGrp="1"/>
          </p:cNvSpPr>
          <p:nvPr>
            <p:ph type="body" sz="quarter" idx="17" hasCustomPrompt="1"/>
          </p:nvPr>
        </p:nvSpPr>
        <p:spPr>
          <a:xfrm>
            <a:off x="2506651" y="4272409"/>
            <a:ext cx="1494384" cy="449262"/>
          </a:xfrm>
        </p:spPr>
        <p:txBody>
          <a:bodyPr>
            <a:noAutofit/>
          </a:bodyPr>
          <a:lstStyle>
            <a:lvl1pPr marL="0" indent="0">
              <a:buNone/>
              <a:defRPr sz="1200">
                <a:solidFill>
                  <a:srgbClr val="004EA2"/>
                </a:solidFill>
                <a:latin typeface="微软雅黑" panose="020B0503020204020204" pitchFamily="34" charset="-122"/>
                <a:ea typeface="微软雅黑" panose="020B0503020204020204" pitchFamily="34" charset="-122"/>
              </a:defRPr>
            </a:lvl1pPr>
          </a:lstStyle>
          <a:p>
            <a:pPr lvl="0"/>
            <a:r>
              <a:rPr lang="en-US" altLang="zh-CN" dirty="0"/>
              <a:t>Here is the text description</a:t>
            </a:r>
            <a:endParaRPr lang="zh-CN" altLang="en-US" dirty="0"/>
          </a:p>
        </p:txBody>
      </p:sp>
      <p:sp>
        <p:nvSpPr>
          <p:cNvPr id="13" name="文本占位符 19"/>
          <p:cNvSpPr>
            <a:spLocks noGrp="1"/>
          </p:cNvSpPr>
          <p:nvPr>
            <p:ph type="body" sz="quarter" idx="18" hasCustomPrompt="1"/>
          </p:nvPr>
        </p:nvSpPr>
        <p:spPr>
          <a:xfrm>
            <a:off x="8190299" y="4263345"/>
            <a:ext cx="1494384" cy="449262"/>
          </a:xfrm>
        </p:spPr>
        <p:txBody>
          <a:bodyPr>
            <a:noAutofit/>
          </a:bodyPr>
          <a:lstStyle>
            <a:lvl1pPr marL="0" indent="0">
              <a:buNone/>
              <a:defRPr lang="zh-CN" altLang="en-US" sz="1200" kern="1200" dirty="0">
                <a:solidFill>
                  <a:srgbClr val="004EA2"/>
                </a:solidFill>
                <a:latin typeface="微软雅黑" panose="020B0503020204020204" pitchFamily="34" charset="-122"/>
                <a:ea typeface="微软雅黑" panose="020B0503020204020204" pitchFamily="34" charset="-122"/>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ltLang="zh-CN" dirty="0"/>
              <a:t>Here is the text description</a:t>
            </a:r>
            <a:endParaRPr lang="zh-CN" altLang="en-US" dirty="0"/>
          </a:p>
        </p:txBody>
      </p:sp>
      <p:sp>
        <p:nvSpPr>
          <p:cNvPr id="14" name="文本占位符 19"/>
          <p:cNvSpPr>
            <a:spLocks noGrp="1"/>
          </p:cNvSpPr>
          <p:nvPr>
            <p:ph type="body" sz="quarter" idx="19" hasCustomPrompt="1"/>
          </p:nvPr>
        </p:nvSpPr>
        <p:spPr>
          <a:xfrm>
            <a:off x="6299533" y="4266732"/>
            <a:ext cx="1494384" cy="449262"/>
          </a:xfrm>
        </p:spPr>
        <p:txBody>
          <a:bodyPr>
            <a:noAutofit/>
          </a:bodyPr>
          <a:lstStyle>
            <a:lvl1pPr marL="0" indent="0">
              <a:buNone/>
              <a:defRPr lang="zh-CN" altLang="en-US" sz="1200" kern="1200" dirty="0">
                <a:solidFill>
                  <a:srgbClr val="004EA2"/>
                </a:solidFill>
                <a:latin typeface="微软雅黑" panose="020B0503020204020204" pitchFamily="34" charset="-122"/>
                <a:ea typeface="微软雅黑" panose="020B0503020204020204" pitchFamily="34" charset="-122"/>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ltLang="zh-CN" dirty="0"/>
              <a:t>Here is the text description</a:t>
            </a:r>
            <a:endParaRPr lang="zh-CN" altLang="en-US" dirty="0"/>
          </a:p>
        </p:txBody>
      </p:sp>
      <p:sp>
        <p:nvSpPr>
          <p:cNvPr id="15" name="文本占位符 19"/>
          <p:cNvSpPr>
            <a:spLocks noGrp="1"/>
          </p:cNvSpPr>
          <p:nvPr>
            <p:ph type="body" sz="quarter" idx="20" hasCustomPrompt="1"/>
          </p:nvPr>
        </p:nvSpPr>
        <p:spPr>
          <a:xfrm>
            <a:off x="4403092" y="4263345"/>
            <a:ext cx="1494384" cy="449262"/>
          </a:xfrm>
        </p:spPr>
        <p:txBody>
          <a:bodyPr>
            <a:noAutofit/>
          </a:bodyPr>
          <a:lstStyle>
            <a:lvl1pPr marL="0" indent="0">
              <a:buNone/>
              <a:defRPr lang="zh-CN" altLang="en-US" sz="1200" kern="1200" dirty="0">
                <a:solidFill>
                  <a:srgbClr val="004EA2"/>
                </a:solidFill>
                <a:latin typeface="微软雅黑" panose="020B0503020204020204" pitchFamily="34" charset="-122"/>
                <a:ea typeface="微软雅黑" panose="020B0503020204020204" pitchFamily="34" charset="-122"/>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ltLang="zh-CN" dirty="0"/>
              <a:t>Here is the text description</a:t>
            </a:r>
            <a:endParaRPr lang="zh-CN" altLang="en-US" dirty="0"/>
          </a:p>
        </p:txBody>
      </p:sp>
      <p:sp>
        <p:nvSpPr>
          <p:cNvPr id="16" name="标题 1"/>
          <p:cNvSpPr txBox="1"/>
          <p:nvPr userDrawn="1"/>
        </p:nvSpPr>
        <p:spPr>
          <a:xfrm>
            <a:off x="838200" y="1061812"/>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rgbClr val="43516D"/>
                </a:solidFill>
                <a:latin typeface="微软雅黑" panose="020B0503020204020204" pitchFamily="34" charset="-122"/>
                <a:ea typeface="微软雅黑" panose="020B0503020204020204" pitchFamily="34" charset="-122"/>
                <a:cs typeface="+mj-cs"/>
              </a:defRPr>
            </a:lvl1pPr>
          </a:lstStyle>
          <a:p>
            <a:endParaRPr lang="zh-CN" altLang="en-US" dirty="0">
              <a:solidFill>
                <a:srgbClr val="004EA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突出数字版式">
    <p:spTree>
      <p:nvGrpSpPr>
        <p:cNvPr id="1" name=""/>
        <p:cNvGrpSpPr/>
        <p:nvPr/>
      </p:nvGrpSpPr>
      <p:grpSpPr>
        <a:xfrm>
          <a:off x="0" y="0"/>
          <a:ext cx="0" cy="0"/>
          <a:chOff x="0" y="0"/>
          <a:chExt cx="0" cy="0"/>
        </a:xfrm>
      </p:grpSpPr>
      <p:sp>
        <p:nvSpPr>
          <p:cNvPr id="6" name="文本占位符 6"/>
          <p:cNvSpPr>
            <a:spLocks noGrp="1"/>
          </p:cNvSpPr>
          <p:nvPr>
            <p:ph type="body" sz="quarter" idx="14" hasCustomPrompt="1"/>
          </p:nvPr>
        </p:nvSpPr>
        <p:spPr>
          <a:xfrm>
            <a:off x="2354258" y="2458001"/>
            <a:ext cx="2000250" cy="931268"/>
          </a:xfrm>
        </p:spPr>
        <p:txBody>
          <a:bodyPr>
            <a:normAutofit/>
          </a:bodyPr>
          <a:lstStyle>
            <a:lvl1pPr marL="0" indent="0">
              <a:buNone/>
              <a:defRPr sz="4400" b="1">
                <a:solidFill>
                  <a:srgbClr val="004EA2"/>
                </a:solidFill>
                <a:latin typeface="微软雅黑" panose="020B0503020204020204" pitchFamily="34" charset="-122"/>
                <a:ea typeface="微软雅黑" panose="020B0503020204020204" pitchFamily="34" charset="-122"/>
              </a:defRPr>
            </a:lvl1pPr>
          </a:lstStyle>
          <a:p>
            <a:pPr lvl="0"/>
            <a:r>
              <a:rPr lang="en-US" altLang="zh-CN" dirty="0"/>
              <a:t>NO.1</a:t>
            </a:r>
            <a:endParaRPr lang="zh-CN" altLang="en-US" dirty="0"/>
          </a:p>
        </p:txBody>
      </p:sp>
      <p:sp>
        <p:nvSpPr>
          <p:cNvPr id="7" name="文本占位符 6"/>
          <p:cNvSpPr>
            <a:spLocks noGrp="1"/>
          </p:cNvSpPr>
          <p:nvPr>
            <p:ph type="body" sz="quarter" idx="15" hasCustomPrompt="1"/>
          </p:nvPr>
        </p:nvSpPr>
        <p:spPr>
          <a:xfrm>
            <a:off x="7905530" y="2466716"/>
            <a:ext cx="2000250" cy="931268"/>
          </a:xfrm>
        </p:spPr>
        <p:txBody>
          <a:bodyPr>
            <a:normAutofit/>
          </a:bodyPr>
          <a:lstStyle>
            <a:lvl1pPr marL="0" indent="0">
              <a:buNone/>
              <a:defRPr sz="4400" b="1">
                <a:solidFill>
                  <a:srgbClr val="004EA2"/>
                </a:solidFill>
                <a:latin typeface="微软雅黑" panose="020B0503020204020204" pitchFamily="34" charset="-122"/>
                <a:ea typeface="微软雅黑" panose="020B0503020204020204" pitchFamily="34" charset="-122"/>
              </a:defRPr>
            </a:lvl1pPr>
          </a:lstStyle>
          <a:p>
            <a:pPr lvl="0"/>
            <a:r>
              <a:rPr lang="en-US" altLang="zh-CN" dirty="0"/>
              <a:t>NO.1</a:t>
            </a:r>
            <a:endParaRPr lang="zh-CN" altLang="en-US" dirty="0"/>
          </a:p>
        </p:txBody>
      </p:sp>
      <p:sp>
        <p:nvSpPr>
          <p:cNvPr id="8" name="文本占位符 6"/>
          <p:cNvSpPr>
            <a:spLocks noGrp="1"/>
          </p:cNvSpPr>
          <p:nvPr>
            <p:ph type="body" sz="quarter" idx="16" hasCustomPrompt="1"/>
          </p:nvPr>
        </p:nvSpPr>
        <p:spPr>
          <a:xfrm>
            <a:off x="5129894" y="2458001"/>
            <a:ext cx="2000250" cy="931268"/>
          </a:xfrm>
        </p:spPr>
        <p:txBody>
          <a:bodyPr>
            <a:normAutofit/>
          </a:bodyPr>
          <a:lstStyle>
            <a:lvl1pPr marL="0" indent="0">
              <a:buNone/>
              <a:defRPr sz="4400" b="1">
                <a:solidFill>
                  <a:srgbClr val="004EA2"/>
                </a:solidFill>
                <a:latin typeface="微软雅黑" panose="020B0503020204020204" pitchFamily="34" charset="-122"/>
                <a:ea typeface="微软雅黑" panose="020B0503020204020204" pitchFamily="34" charset="-122"/>
              </a:defRPr>
            </a:lvl1pPr>
          </a:lstStyle>
          <a:p>
            <a:pPr lvl="0"/>
            <a:r>
              <a:rPr lang="en-US" altLang="zh-CN" dirty="0"/>
              <a:t>NO.1</a:t>
            </a:r>
            <a:endParaRPr lang="zh-CN" altLang="en-US" dirty="0"/>
          </a:p>
        </p:txBody>
      </p:sp>
      <p:sp>
        <p:nvSpPr>
          <p:cNvPr id="9" name="文本占位符 28"/>
          <p:cNvSpPr>
            <a:spLocks noGrp="1"/>
          </p:cNvSpPr>
          <p:nvPr>
            <p:ph type="body" sz="quarter" idx="18" hasCustomPrompt="1"/>
          </p:nvPr>
        </p:nvSpPr>
        <p:spPr>
          <a:xfrm>
            <a:off x="5132343" y="3661113"/>
            <a:ext cx="2000250" cy="454025"/>
          </a:xfrm>
        </p:spPr>
        <p:txBody>
          <a:bodyPr>
            <a:normAutofit/>
          </a:bodyPr>
          <a:lstStyle>
            <a:lvl1pPr marL="0" indent="0" algn="ctr">
              <a:buNone/>
              <a:defRPr sz="1600" b="1">
                <a:solidFill>
                  <a:srgbClr val="004EA2"/>
                </a:solidFill>
                <a:latin typeface="微软雅黑" panose="020B0503020204020204" pitchFamily="34" charset="-122"/>
                <a:ea typeface="微软雅黑" panose="020B0503020204020204" pitchFamily="34" charset="-122"/>
              </a:defRPr>
            </a:lvl1pPr>
          </a:lstStyle>
          <a:p>
            <a:pPr lvl="0"/>
            <a:r>
              <a:rPr lang="zh-CN" altLang="en-US" dirty="0"/>
              <a:t>这里是描述</a:t>
            </a:r>
          </a:p>
        </p:txBody>
      </p:sp>
      <p:sp>
        <p:nvSpPr>
          <p:cNvPr id="10" name="文本占位符 28"/>
          <p:cNvSpPr>
            <a:spLocks noGrp="1"/>
          </p:cNvSpPr>
          <p:nvPr>
            <p:ph type="body" sz="quarter" idx="19" hasCustomPrompt="1"/>
          </p:nvPr>
        </p:nvSpPr>
        <p:spPr>
          <a:xfrm>
            <a:off x="7903624" y="3661112"/>
            <a:ext cx="2000250" cy="454025"/>
          </a:xfrm>
        </p:spPr>
        <p:txBody>
          <a:bodyPr>
            <a:normAutofit/>
          </a:bodyPr>
          <a:lstStyle>
            <a:lvl1pPr marL="0" indent="0" algn="ctr">
              <a:buNone/>
              <a:defRPr sz="1600" b="1">
                <a:solidFill>
                  <a:srgbClr val="004EA2"/>
                </a:solidFill>
                <a:latin typeface="微软雅黑" panose="020B0503020204020204" pitchFamily="34" charset="-122"/>
                <a:ea typeface="微软雅黑" panose="020B0503020204020204" pitchFamily="34" charset="-122"/>
              </a:defRPr>
            </a:lvl1pPr>
          </a:lstStyle>
          <a:p>
            <a:pPr lvl="0"/>
            <a:r>
              <a:rPr lang="zh-CN" altLang="en-US" dirty="0"/>
              <a:t>这里是描述</a:t>
            </a:r>
          </a:p>
        </p:txBody>
      </p:sp>
      <p:sp>
        <p:nvSpPr>
          <p:cNvPr id="11" name="文本占位符 28"/>
          <p:cNvSpPr>
            <a:spLocks noGrp="1"/>
          </p:cNvSpPr>
          <p:nvPr>
            <p:ph type="body" sz="quarter" idx="20" hasCustomPrompt="1"/>
          </p:nvPr>
        </p:nvSpPr>
        <p:spPr>
          <a:xfrm>
            <a:off x="2361062" y="3661114"/>
            <a:ext cx="2000250" cy="454025"/>
          </a:xfrm>
        </p:spPr>
        <p:txBody>
          <a:bodyPr>
            <a:normAutofit/>
          </a:bodyPr>
          <a:lstStyle>
            <a:lvl1pPr marL="0" indent="0" algn="ctr">
              <a:buNone/>
              <a:defRPr sz="1600" b="1">
                <a:solidFill>
                  <a:srgbClr val="004EA2"/>
                </a:solidFill>
                <a:latin typeface="微软雅黑" panose="020B0503020204020204" pitchFamily="34" charset="-122"/>
                <a:ea typeface="微软雅黑" panose="020B0503020204020204" pitchFamily="34" charset="-122"/>
              </a:defRPr>
            </a:lvl1pPr>
          </a:lstStyle>
          <a:p>
            <a:pPr lvl="0"/>
            <a:r>
              <a:rPr lang="zh-CN" altLang="en-US" dirty="0"/>
              <a:t>这里是描述</a:t>
            </a:r>
          </a:p>
        </p:txBody>
      </p:sp>
      <p:sp>
        <p:nvSpPr>
          <p:cNvPr id="12" name="文本占位符 34"/>
          <p:cNvSpPr>
            <a:spLocks noGrp="1"/>
          </p:cNvSpPr>
          <p:nvPr>
            <p:ph type="body" sz="quarter" idx="22" hasCustomPrompt="1"/>
          </p:nvPr>
        </p:nvSpPr>
        <p:spPr>
          <a:xfrm>
            <a:off x="5056141" y="4292937"/>
            <a:ext cx="2226129" cy="385763"/>
          </a:xfrm>
        </p:spPr>
        <p:txBody>
          <a:bodyPr>
            <a:noAutofit/>
          </a:bodyPr>
          <a:lstStyle>
            <a:lvl1pPr marL="0" indent="0">
              <a:buNone/>
              <a:defRPr sz="1200">
                <a:solidFill>
                  <a:srgbClr val="004EA2"/>
                </a:solidFill>
                <a:latin typeface="微软雅黑" panose="020B0503020204020204" pitchFamily="34" charset="-122"/>
                <a:ea typeface="微软雅黑" panose="020B0503020204020204" pitchFamily="34" charset="-122"/>
              </a:defRPr>
            </a:lvl1pPr>
          </a:lstStyle>
          <a:p>
            <a:pPr lvl="0"/>
            <a:r>
              <a:rPr lang="en-US" altLang="zh-CN" dirty="0"/>
              <a:t>Here is the text description</a:t>
            </a:r>
            <a:endParaRPr lang="zh-CN" altLang="en-US" dirty="0"/>
          </a:p>
        </p:txBody>
      </p:sp>
      <p:sp>
        <p:nvSpPr>
          <p:cNvPr id="13" name="文本占位符 34"/>
          <p:cNvSpPr>
            <a:spLocks noGrp="1"/>
          </p:cNvSpPr>
          <p:nvPr>
            <p:ph type="body" sz="quarter" idx="23" hasCustomPrompt="1"/>
          </p:nvPr>
        </p:nvSpPr>
        <p:spPr>
          <a:xfrm>
            <a:off x="7798849" y="4293841"/>
            <a:ext cx="2226129" cy="385763"/>
          </a:xfrm>
        </p:spPr>
        <p:txBody>
          <a:bodyPr>
            <a:noAutofit/>
          </a:bodyPr>
          <a:lstStyle>
            <a:lvl1pPr marL="0" indent="0">
              <a:buNone/>
              <a:defRPr sz="1200">
                <a:solidFill>
                  <a:srgbClr val="004EA2"/>
                </a:solidFill>
                <a:latin typeface="微软雅黑" panose="020B0503020204020204" pitchFamily="34" charset="-122"/>
                <a:ea typeface="微软雅黑" panose="020B0503020204020204" pitchFamily="34" charset="-122"/>
              </a:defRPr>
            </a:lvl1pPr>
          </a:lstStyle>
          <a:p>
            <a:pPr lvl="0"/>
            <a:r>
              <a:rPr lang="en-US" altLang="zh-CN" dirty="0"/>
              <a:t>Here is the text description</a:t>
            </a:r>
            <a:endParaRPr lang="zh-CN" altLang="en-US" dirty="0"/>
          </a:p>
        </p:txBody>
      </p:sp>
      <p:sp>
        <p:nvSpPr>
          <p:cNvPr id="14" name="文本占位符 34"/>
          <p:cNvSpPr>
            <a:spLocks noGrp="1"/>
          </p:cNvSpPr>
          <p:nvPr>
            <p:ph type="body" sz="quarter" idx="24" hasCustomPrompt="1"/>
          </p:nvPr>
        </p:nvSpPr>
        <p:spPr>
          <a:xfrm>
            <a:off x="2248122" y="4292937"/>
            <a:ext cx="2226129" cy="385763"/>
          </a:xfrm>
        </p:spPr>
        <p:txBody>
          <a:bodyPr>
            <a:noAutofit/>
          </a:bodyPr>
          <a:lstStyle>
            <a:lvl1pPr marL="0" indent="0">
              <a:buNone/>
              <a:defRPr sz="1200">
                <a:solidFill>
                  <a:srgbClr val="004EA2"/>
                </a:solidFill>
                <a:latin typeface="微软雅黑" panose="020B0503020204020204" pitchFamily="34" charset="-122"/>
                <a:ea typeface="微软雅黑" panose="020B0503020204020204" pitchFamily="34" charset="-122"/>
              </a:defRPr>
            </a:lvl1pPr>
          </a:lstStyle>
          <a:p>
            <a:pPr lvl="0"/>
            <a:r>
              <a:rPr lang="en-US" altLang="zh-CN" dirty="0"/>
              <a:t>Here is the text description</a:t>
            </a:r>
            <a:endParaRPr lang="zh-CN" altLang="en-US" dirty="0"/>
          </a:p>
        </p:txBody>
      </p:sp>
      <p:sp>
        <p:nvSpPr>
          <p:cNvPr id="16" name="标题 1"/>
          <p:cNvSpPr txBox="1"/>
          <p:nvPr userDrawn="1"/>
        </p:nvSpPr>
        <p:spPr>
          <a:xfrm>
            <a:off x="838200" y="1061812"/>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rgbClr val="43516D"/>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endParaRPr lang="zh-CN" altLang="en-US" dirty="0">
              <a:solidFill>
                <a:srgbClr val="004EA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由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1273629"/>
            <a:ext cx="10515600" cy="4713514"/>
          </a:xfrm>
        </p:spPr>
        <p:txBody>
          <a:bodyPr/>
          <a:lstStyle>
            <a:lvl1pPr algn="ctr">
              <a:defRPr b="1">
                <a:solidFill>
                  <a:srgbClr val="004EA2"/>
                </a:solidFill>
                <a:latin typeface="微软雅黑" panose="020B0503020204020204" pitchFamily="34" charset="-122"/>
                <a:ea typeface="微软雅黑" panose="020B0503020204020204" pitchFamily="34" charset="-122"/>
              </a:defRPr>
            </a:lvl1pPr>
          </a:lstStyle>
          <a:p>
            <a:r>
              <a:rPr lang="zh-CN" altLang="en-US" dirty="0"/>
              <a:t>这是自由版式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一句话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085065"/>
            <a:ext cx="10515600" cy="1325563"/>
          </a:xfrm>
        </p:spPr>
        <p:txBody>
          <a:bodyPr/>
          <a:lstStyle>
            <a:lvl1pPr algn="ctr">
              <a:defRPr b="1">
                <a:solidFill>
                  <a:srgbClr val="004EA2"/>
                </a:solidFill>
                <a:latin typeface="微软雅黑" panose="020B0503020204020204" pitchFamily="34" charset="-122"/>
                <a:ea typeface="微软雅黑" panose="020B0503020204020204" pitchFamily="34" charset="-122"/>
              </a:defRPr>
            </a:lvl1pPr>
          </a:lstStyle>
          <a:p>
            <a:r>
              <a:rPr lang="zh-CN" altLang="en-US" dirty="0"/>
              <a:t>这是一句话版式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577048"/>
            <a:ext cx="12192000" cy="280952"/>
          </a:xfrm>
          <a:prstGeom prst="rect">
            <a:avLst/>
          </a:prstGeom>
        </p:spPr>
      </p:pic>
      <p:sp>
        <p:nvSpPr>
          <p:cNvPr id="7" name="标题文本"/>
          <p:cNvSpPr txBox="1">
            <a:spLocks noGrp="1"/>
          </p:cNvSpPr>
          <p:nvPr>
            <p:ph type="title" hasCustomPrompt="1"/>
          </p:nvPr>
        </p:nvSpPr>
        <p:spPr>
          <a:xfrm>
            <a:off x="889000" y="1993853"/>
            <a:ext cx="10414001" cy="2325126"/>
          </a:xfrm>
          <a:prstGeom prst="rect">
            <a:avLst/>
          </a:prstGeom>
        </p:spPr>
        <p:txBody>
          <a:bodyPr>
            <a:normAutofit/>
          </a:bodyPr>
          <a:lstStyle>
            <a:lvl1pPr marL="0" indent="0" algn="ctr" defTabSz="914400" rtl="0" eaLnBrk="1" latinLnBrk="0" hangingPunct="1">
              <a:lnSpc>
                <a:spcPct val="90000"/>
              </a:lnSpc>
              <a:spcBef>
                <a:spcPts val="2835"/>
              </a:spcBef>
              <a:buClr>
                <a:srgbClr val="FFFFFF"/>
              </a:buClr>
              <a:buSzPct val="150000"/>
              <a:buFontTx/>
              <a:buNone/>
              <a:defRPr sz="4400" b="1" kern="1200" spc="76" dirty="0">
                <a:solidFill>
                  <a:srgbClr val="004EA2"/>
                </a:solidFill>
                <a:latin typeface="微软雅黑" panose="020B0503020204020204" pitchFamily="34" charset="-122"/>
                <a:ea typeface="微软雅黑" panose="020B0503020204020204" pitchFamily="34" charset="-122"/>
                <a:cs typeface="+mj-cs"/>
              </a:defRPr>
            </a:lvl1pPr>
          </a:lstStyle>
          <a:p>
            <a:r>
              <a:rPr lang="zh-CN" altLang="en-US" dirty="0"/>
              <a:t>结束语</a:t>
            </a:r>
            <a:endParaRPr dirty="0"/>
          </a:p>
        </p:txBody>
      </p:sp>
      <p:pic>
        <p:nvPicPr>
          <p:cNvPr id="8" name="图片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29125" y="365121"/>
            <a:ext cx="1762125" cy="571500"/>
          </a:xfrm>
          <a:prstGeom prst="rect">
            <a:avLst/>
          </a:prstGeom>
        </p:spPr>
      </p:pic>
      <p:pic>
        <p:nvPicPr>
          <p:cNvPr id="9" name="图片 8"/>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328767" y="6001930"/>
            <a:ext cx="4188315" cy="38408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97C26-65F6-4C1A-A2D5-9B6709C46EDB}" type="datetimeFigureOut">
              <a:rPr lang="zh-CN" altLang="en-US" smtClean="0"/>
              <a:t>2024/12/25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676E57-25FC-4747-B420-ECA0CF9F02F6}" type="slidenum">
              <a:rPr lang="zh-CN" altLang="en-US" smtClean="0"/>
              <a:t>‹#›</a:t>
            </a:fld>
            <a:endParaRPr lang="zh-CN" altLang="en-US"/>
          </a:p>
        </p:txBody>
      </p:sp>
      <p:pic>
        <p:nvPicPr>
          <p:cNvPr id="9" name="图片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929125" y="365121"/>
            <a:ext cx="1762125" cy="571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13.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3.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23.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22.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20.xml"/><Relationship Id="rId7" Type="http://schemas.openxmlformats.org/officeDocument/2006/relationships/notesSlide" Target="../notesSlides/notesSlide1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Layout" Target="../slideLayouts/slideLayout3.xml"/><Relationship Id="rId5" Type="http://schemas.openxmlformats.org/officeDocument/2006/relationships/tags" Target="../tags/tag22.xml"/><Relationship Id="rId4" Type="http://schemas.openxmlformats.org/officeDocument/2006/relationships/tags" Target="../tags/tag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2663428" y="3414984"/>
            <a:ext cx="6821424" cy="0"/>
          </a:xfrm>
          <a:prstGeom prst="line">
            <a:avLst/>
          </a:prstGeom>
          <a:ln>
            <a:solidFill>
              <a:srgbClr val="004EA2"/>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632579" y="3653070"/>
            <a:ext cx="4926842" cy="646331"/>
          </a:xfrm>
          <a:prstGeom prst="rect">
            <a:avLst/>
          </a:prstGeom>
          <a:noFill/>
        </p:spPr>
        <p:txBody>
          <a:bodyPr wrap="square" rtlCol="0">
            <a:spAutoFit/>
          </a:bodyPr>
          <a:lstStyle/>
          <a:p>
            <a:pPr algn="ctr"/>
            <a:r>
              <a:rPr lang="zh-CN" altLang="en-US" dirty="0">
                <a:solidFill>
                  <a:srgbClr val="004EA2"/>
                </a:solidFill>
                <a:latin typeface="微软雅黑" panose="020B0503020204020204" pitchFamily="34" charset="-122"/>
                <a:ea typeface="微软雅黑" panose="020B0503020204020204" pitchFamily="34" charset="-122"/>
              </a:rPr>
              <a:t>第十四组</a:t>
            </a:r>
            <a:endParaRPr lang="en-US" altLang="zh-CN" dirty="0">
              <a:solidFill>
                <a:srgbClr val="004EA2"/>
              </a:solidFill>
              <a:latin typeface="微软雅黑" panose="020B0503020204020204" pitchFamily="34" charset="-122"/>
              <a:ea typeface="微软雅黑" panose="020B0503020204020204" pitchFamily="34" charset="-122"/>
            </a:endParaRPr>
          </a:p>
          <a:p>
            <a:pPr algn="ctr"/>
            <a:r>
              <a:rPr lang="zh-CN" altLang="en-US" dirty="0">
                <a:solidFill>
                  <a:srgbClr val="004EA2"/>
                </a:solidFill>
                <a:latin typeface="微软雅黑" panose="020B0503020204020204" pitchFamily="34" charset="-122"/>
                <a:ea typeface="微软雅黑" panose="020B0503020204020204" pitchFamily="34" charset="-122"/>
              </a:rPr>
              <a:t>董炎源、黄治宇、贺登威、穆拉迪力</a:t>
            </a:r>
            <a:r>
              <a:rPr lang="en-US" altLang="zh-CN" dirty="0">
                <a:solidFill>
                  <a:srgbClr val="004EA2"/>
                </a:solidFill>
                <a:latin typeface="微软雅黑" panose="020B0503020204020204" pitchFamily="34" charset="-122"/>
                <a:ea typeface="微软雅黑" panose="020B0503020204020204" pitchFamily="34" charset="-122"/>
              </a:rPr>
              <a:t>·</a:t>
            </a:r>
            <a:r>
              <a:rPr lang="zh-CN" altLang="en-US" dirty="0">
                <a:solidFill>
                  <a:srgbClr val="004EA2"/>
                </a:solidFill>
                <a:latin typeface="微软雅黑" panose="020B0503020204020204" pitchFamily="34" charset="-122"/>
                <a:ea typeface="微软雅黑" panose="020B0503020204020204" pitchFamily="34" charset="-122"/>
              </a:rPr>
              <a:t>买买提</a:t>
            </a:r>
          </a:p>
        </p:txBody>
      </p:sp>
      <p:sp>
        <p:nvSpPr>
          <p:cNvPr id="2" name="标题 1"/>
          <p:cNvSpPr>
            <a:spLocks noGrp="1"/>
          </p:cNvSpPr>
          <p:nvPr>
            <p:ph type="title"/>
          </p:nvPr>
        </p:nvSpPr>
        <p:spPr/>
        <p:txBody>
          <a:bodyPr/>
          <a:lstStyle/>
          <a:p>
            <a:r>
              <a:rPr lang="zh-CN" altLang="en-US" dirty="0"/>
              <a:t>共享单车租借量预测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en-US" altLang="zh-CN" b="1" spc="100" dirty="0"/>
              <a:t>1</a:t>
            </a:r>
            <a:r>
              <a:rPr lang="zh-CN" altLang="en-US" b="1" spc="100" dirty="0"/>
              <a:t>、商业理解与题目要求</a:t>
            </a:r>
            <a:br>
              <a:rPr lang="en-US" altLang="zh-CN" b="1" spc="100" dirty="0"/>
            </a:br>
            <a:br>
              <a:rPr lang="en-US" altLang="zh-CN" b="1" spc="100" dirty="0"/>
            </a:br>
            <a:r>
              <a:rPr lang="en-US" altLang="zh-CN" b="1" spc="100" dirty="0"/>
              <a:t>2</a:t>
            </a:r>
            <a:r>
              <a:rPr lang="zh-CN" altLang="en-US" b="1" spc="100" dirty="0"/>
              <a:t>、数据理解与预处理</a:t>
            </a:r>
            <a:br>
              <a:rPr lang="en-US" altLang="zh-CN" b="1" spc="100" dirty="0"/>
            </a:br>
            <a:br>
              <a:rPr lang="en-US" altLang="zh-CN" b="1" spc="100" dirty="0"/>
            </a:br>
            <a:r>
              <a:rPr lang="en-US" altLang="zh-CN" b="1" spc="100" dirty="0"/>
              <a:t>3</a:t>
            </a:r>
            <a:r>
              <a:rPr lang="zh-CN" altLang="en-US" b="1" spc="100" dirty="0"/>
              <a:t>、</a:t>
            </a:r>
            <a:r>
              <a:rPr lang="en-US" altLang="zh-CN" b="1" spc="100" dirty="0" err="1"/>
              <a:t>SKLearn</a:t>
            </a:r>
            <a:r>
              <a:rPr lang="zh-CN" altLang="en-US" b="1" spc="100" dirty="0"/>
              <a:t>神经网络模型</a:t>
            </a:r>
            <a:br>
              <a:rPr lang="en-US" altLang="zh-CN" b="1" spc="100" dirty="0"/>
            </a:br>
            <a:br>
              <a:rPr lang="en-US" altLang="zh-CN" b="1" spc="100" dirty="0"/>
            </a:br>
            <a:r>
              <a:rPr lang="en-US" altLang="zh-CN" b="1" spc="100" dirty="0"/>
              <a:t>4</a:t>
            </a:r>
            <a:r>
              <a:rPr lang="zh-CN" altLang="en-US" b="1" spc="100" dirty="0"/>
              <a:t>、</a:t>
            </a:r>
            <a:r>
              <a:rPr lang="en-US" altLang="zh-CN" b="1" spc="100" dirty="0" err="1"/>
              <a:t>Keras</a:t>
            </a:r>
            <a:r>
              <a:rPr lang="zh-CN" altLang="en-US" b="1" spc="100" dirty="0"/>
              <a:t>构建模型</a:t>
            </a:r>
            <a:br>
              <a:rPr lang="en-US" altLang="zh-CN" b="1" spc="100" dirty="0"/>
            </a:br>
            <a:br>
              <a:rPr lang="en-US" altLang="zh-CN" b="1" spc="100" dirty="0"/>
            </a:br>
            <a:r>
              <a:rPr lang="en-US" altLang="zh-CN" b="1" spc="100" dirty="0"/>
              <a:t>5</a:t>
            </a:r>
            <a:r>
              <a:rPr lang="zh-CN" altLang="en-US" b="1" spc="100" dirty="0"/>
              <a:t>、评估和解释性分析</a:t>
            </a:r>
            <a:br>
              <a:rPr lang="zh-CN" altLang="en-US" dirty="0">
                <a:latin typeface="+mj-ea"/>
              </a:rPr>
            </a:b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1</a:t>
            </a:r>
            <a:r>
              <a:rPr lang="zh-CN" altLang="en-US" dirty="0"/>
              <a:t>、商业理解与题目要求</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06947"/>
            <a:ext cx="59822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rPr>
              <a:t>商业背景</a:t>
            </a:r>
            <a:endParaRPr kumimoji="0" lang="zh-CN" altLang="en-US" sz="24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745351" y="1224885"/>
            <a:ext cx="10872907" cy="4454553"/>
          </a:xfrm>
          <a:prstGeom prst="rect">
            <a:avLst/>
          </a:prstGeom>
          <a:noFill/>
        </p:spPr>
        <p:txBody>
          <a:bodyPr wrap="square" rtlCol="0">
            <a:spAutoFit/>
          </a:bodyPr>
          <a:lstStyle/>
          <a:p>
            <a:pPr marL="0" marR="0" lvl="0" indent="457200" algn="l"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共享单车等座位面向大众的便携式租赁交通工具，在现在的社会上受到十分广泛的关注。</a:t>
            </a: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我们小组计划对共享单车的租赁进行预测。</a:t>
            </a:r>
            <a:endPar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457200" algn="l" defTabSz="914400" rtl="0" eaLnBrk="1" fontAlgn="auto" latinLnBrk="0" hangingPunct="1">
              <a:lnSpc>
                <a:spcPct val="130000"/>
              </a:lnSpc>
              <a:spcBef>
                <a:spcPts val="0"/>
              </a:spcBef>
              <a:spcAft>
                <a:spcPts val="0"/>
              </a:spcAft>
              <a:buClrTx/>
              <a:buSzTx/>
              <a:buFontTx/>
              <a:buNone/>
              <a:tabLst/>
              <a:defRPr/>
            </a:pPr>
            <a:endPar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457200" algn="l" defTabSz="914400" rtl="0" eaLnBrk="1" fontAlgn="auto" latinLnBrk="0" hangingPunct="1">
              <a:lnSpc>
                <a:spcPct val="130000"/>
              </a:lnSpc>
              <a:spcBef>
                <a:spcPts val="0"/>
              </a:spcBef>
              <a:spcAft>
                <a:spcPts val="0"/>
              </a:spcAft>
              <a:buClrTx/>
              <a:buSzTx/>
              <a:buFontTx/>
              <a:buNone/>
              <a:tabLst/>
              <a:defRPr/>
            </a:pP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从商业理解角度出发，本项目价值在于：</a:t>
            </a:r>
            <a:endPar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457200" algn="l" defTabSz="914400" rtl="0" eaLnBrk="1" fontAlgn="auto"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需求预测</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，对特定的时间</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空间，更有效地分配资源；</a:t>
            </a:r>
          </a:p>
          <a:p>
            <a:pPr marL="0" marR="0" lvl="0" indent="457200" algn="l" defTabSz="914400" rtl="0" eaLnBrk="1" fontAlgn="auto" latinLnBrk="0" hangingPunct="1">
              <a:lnSpc>
                <a:spcPct val="130000"/>
              </a:lnSpc>
              <a:spcBef>
                <a:spcPts val="0"/>
              </a:spcBef>
              <a:spcAft>
                <a:spcPts val="0"/>
              </a:spcAft>
              <a:buClrTx/>
              <a:buSzTx/>
              <a:buFontTx/>
              <a:buNone/>
              <a:tabLst/>
              <a:defRPr/>
            </a:pPr>
            <a:r>
              <a:rPr lang="zh-CN" altLang="en-US" sz="2000" b="1" dirty="0">
                <a:solidFill>
                  <a:srgbClr val="004EA2"/>
                </a:solidFill>
                <a:latin typeface="微软雅黑" panose="020B0503020204020204" pitchFamily="34" charset="-122"/>
                <a:ea typeface="微软雅黑" panose="020B0503020204020204" pitchFamily="34" charset="-122"/>
                <a:sym typeface="+mn-ea"/>
              </a:rPr>
              <a:t>定价策略</a:t>
            </a:r>
            <a:r>
              <a:rPr lang="zh-CN" altLang="en-US" sz="2000" dirty="0">
                <a:solidFill>
                  <a:prstClr val="black"/>
                </a:solidFill>
                <a:latin typeface="微软雅黑" panose="020B0503020204020204" pitchFamily="34" charset="-122"/>
                <a:ea typeface="微软雅黑" panose="020B0503020204020204" pitchFamily="34" charset="-122"/>
                <a:sym typeface="+mn-ea"/>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分需求高低峰动态定价策略，以及利用这些数据来开发新的自行车租赁套餐；</a:t>
            </a:r>
          </a:p>
          <a:p>
            <a:pPr marL="0" marR="0" lvl="0" indent="457200" algn="l" defTabSz="914400" rtl="0" eaLnBrk="1" fontAlgn="auto" latinLnBrk="0" hangingPunct="1">
              <a:lnSpc>
                <a:spcPct val="130000"/>
              </a:lnSpc>
              <a:spcBef>
                <a:spcPts val="0"/>
              </a:spcBef>
              <a:spcAft>
                <a:spcPts val="0"/>
              </a:spcAft>
              <a:buClrTx/>
              <a:buSzTx/>
              <a:buFontTx/>
              <a:buNone/>
              <a:tabLst/>
              <a:defRPr/>
            </a:pPr>
            <a:r>
              <a:rPr lang="zh-CN" altLang="en-US" sz="2000" b="1" dirty="0">
                <a:solidFill>
                  <a:srgbClr val="004EA2"/>
                </a:solidFill>
                <a:latin typeface="微软雅黑" panose="020B0503020204020204" pitchFamily="34" charset="-122"/>
                <a:ea typeface="微软雅黑" panose="020B0503020204020204" pitchFamily="34" charset="-122"/>
                <a:sym typeface="+mn-ea"/>
              </a:rPr>
              <a:t>产品改进</a:t>
            </a:r>
            <a:r>
              <a:rPr lang="zh-CN" altLang="en-US" sz="2000" dirty="0">
                <a:solidFill>
                  <a:prstClr val="black"/>
                </a:solidFill>
                <a:latin typeface="微软雅黑" panose="020B0503020204020204" pitchFamily="34" charset="-122"/>
                <a:ea typeface="微软雅黑" panose="020B0503020204020204" pitchFamily="34" charset="-122"/>
                <a:sym typeface="+mn-ea"/>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通过分析用户租赁行为设计针对性的营销活动和产品改进方案，吸引更多的潜在用户，比如，在不同季节之间租赁量的规律性波动，可能暗示温度、日晒等条件对用户出行方式的选择有一定的影响；</a:t>
            </a:r>
          </a:p>
          <a:p>
            <a:pPr marL="0" marR="0" lvl="0" indent="457200" algn="l" defTabSz="914400" rtl="0" eaLnBrk="1" fontAlgn="auto" latinLnBrk="0" hangingPunct="1">
              <a:lnSpc>
                <a:spcPct val="130000"/>
              </a:lnSpc>
              <a:spcBef>
                <a:spcPts val="0"/>
              </a:spcBef>
              <a:spcAft>
                <a:spcPts val="0"/>
              </a:spcAft>
              <a:buClrTx/>
              <a:buSzTx/>
              <a:buFontTx/>
              <a:buNone/>
              <a:tabLst/>
              <a:defRPr/>
            </a:pPr>
            <a:r>
              <a:rPr lang="zh-CN" altLang="en-US" sz="2000" b="1" dirty="0">
                <a:solidFill>
                  <a:srgbClr val="004EA2"/>
                </a:solidFill>
                <a:latin typeface="微软雅黑" panose="020B0503020204020204" pitchFamily="34" charset="-122"/>
                <a:ea typeface="微软雅黑" panose="020B0503020204020204" pitchFamily="34" charset="-122"/>
                <a:sym typeface="+mn-ea"/>
              </a:rPr>
              <a:t>风险管理</a:t>
            </a:r>
            <a:r>
              <a:rPr lang="zh-CN" altLang="en-US" sz="2000" dirty="0">
                <a:solidFill>
                  <a:prstClr val="black"/>
                </a:solidFill>
                <a:latin typeface="微软雅黑" panose="020B0503020204020204" pitchFamily="34" charset="-122"/>
                <a:ea typeface="微软雅黑" panose="020B0503020204020204" pitchFamily="34" charset="-122"/>
                <a:sym typeface="+mn-ea"/>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了解租赁需求的波动性可以帮助企业更好地管理风险，帮助企业对共享单车的采购、投放和维护等做出合理的时间及数量安排。</a:t>
            </a:r>
          </a:p>
        </p:txBody>
      </p:sp>
    </p:spTree>
    <p:extLst>
      <p:ext uri="{BB962C8B-B14F-4D97-AF65-F5344CB8AC3E}">
        <p14:creationId xmlns:p14="http://schemas.microsoft.com/office/powerpoint/2010/main" val="1011949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06947"/>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题目</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1253677"/>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数据集来源为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Kaggle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官网的数据集（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Bike Sharing Demand | Kaggle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）。题目要求根据两年间以小时为单位记录的共享单车租借数目与租借时的天气等情况，对给定后者的情形进行共享单车租借数目的预测估计。</a:t>
            </a:r>
          </a:p>
        </p:txBody>
      </p:sp>
      <p:pic>
        <p:nvPicPr>
          <p:cNvPr id="3" name="图片 2"/>
          <p:cNvPicPr>
            <a:picLocks noChangeAspect="1"/>
          </p:cNvPicPr>
          <p:nvPr/>
        </p:nvPicPr>
        <p:blipFill>
          <a:blip r:embed="rId3"/>
          <a:stretch>
            <a:fillRect/>
          </a:stretch>
        </p:blipFill>
        <p:spPr>
          <a:xfrm>
            <a:off x="2393429" y="2795351"/>
            <a:ext cx="7405141" cy="36557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2</a:t>
            </a:r>
            <a:r>
              <a:rPr lang="zh-CN" altLang="en-US" dirty="0"/>
              <a:t>、</a:t>
            </a:r>
            <a:r>
              <a:rPr lang="zh-CN" altLang="en-US" spc="100" dirty="0">
                <a:sym typeface="+mn-ea"/>
              </a:rPr>
              <a:t>数据理解与预处理</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06947"/>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数据概况</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2" y="1224885"/>
            <a:ext cx="6537994" cy="1253677"/>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题目提供了一个训练集，规模为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10887</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列。</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包含的数据包括：租借日期、季节、是否为假日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工作日、天气（</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种）、温度湿度、风速、租借数目等。</a:t>
            </a:r>
          </a:p>
        </p:txBody>
      </p:sp>
      <p:pic>
        <p:nvPicPr>
          <p:cNvPr id="6" name="图片 5"/>
          <p:cNvPicPr/>
          <p:nvPr/>
        </p:nvPicPr>
        <p:blipFill>
          <a:blip r:embed="rId3"/>
          <a:stretch>
            <a:fillRect/>
          </a:stretch>
        </p:blipFill>
        <p:spPr>
          <a:xfrm>
            <a:off x="560935" y="2853965"/>
            <a:ext cx="6559393" cy="3597088"/>
          </a:xfrm>
          <a:prstGeom prst="rect">
            <a:avLst/>
          </a:prstGeom>
        </p:spPr>
      </p:pic>
      <p:pic>
        <p:nvPicPr>
          <p:cNvPr id="4" name="图片 3"/>
          <p:cNvPicPr>
            <a:picLocks noChangeAspect="1"/>
          </p:cNvPicPr>
          <p:nvPr/>
        </p:nvPicPr>
        <p:blipFill>
          <a:blip r:embed="rId4"/>
          <a:stretch>
            <a:fillRect/>
          </a:stretch>
        </p:blipFill>
        <p:spPr>
          <a:xfrm>
            <a:off x="7283345" y="1678342"/>
            <a:ext cx="4773744" cy="45944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06947"/>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数据预览</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491490"/>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通过程序可以初步绘制</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‘count’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列（即需要预测的数据）的变化情况。</a:t>
            </a:r>
          </a:p>
        </p:txBody>
      </p:sp>
      <p:pic>
        <p:nvPicPr>
          <p:cNvPr id="4" name="图片 3"/>
          <p:cNvPicPr>
            <a:picLocks noChangeAspect="1"/>
          </p:cNvPicPr>
          <p:nvPr/>
        </p:nvPicPr>
        <p:blipFill>
          <a:blip r:embed="rId3"/>
          <a:stretch>
            <a:fillRect/>
          </a:stretch>
        </p:blipFill>
        <p:spPr>
          <a:xfrm>
            <a:off x="3243547" y="1973060"/>
            <a:ext cx="5704905" cy="48649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06947"/>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预处理思路</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1691640"/>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数据不含缺失值，包含的问题主要有：不同的租赁数差距过大、时间数据（形如</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2011/1/1 1:00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）难以处理等。</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因此，我们用对数转化内部差距过大的数据，将时间拆分为年、月、日、星期和小时便于后续操作。</a:t>
            </a:r>
          </a:p>
        </p:txBody>
      </p:sp>
      <p:pic>
        <p:nvPicPr>
          <p:cNvPr id="6" name="图片 5"/>
          <p:cNvPicPr/>
          <p:nvPr/>
        </p:nvPicPr>
        <p:blipFill>
          <a:blip r:embed="rId3"/>
          <a:stretch>
            <a:fillRect/>
          </a:stretch>
        </p:blipFill>
        <p:spPr>
          <a:xfrm>
            <a:off x="560935" y="3442036"/>
            <a:ext cx="5274310" cy="2372360"/>
          </a:xfrm>
          <a:prstGeom prst="rect">
            <a:avLst/>
          </a:prstGeom>
        </p:spPr>
      </p:pic>
      <p:pic>
        <p:nvPicPr>
          <p:cNvPr id="7" name="图片 6"/>
          <p:cNvPicPr/>
          <p:nvPr/>
        </p:nvPicPr>
        <p:blipFill>
          <a:blip r:embed="rId4"/>
          <a:stretch>
            <a:fillRect/>
          </a:stretch>
        </p:blipFill>
        <p:spPr>
          <a:xfrm>
            <a:off x="6356755" y="3416953"/>
            <a:ext cx="5274310" cy="24225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独热编码与标准化转换</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891540"/>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在所有数据中，季节、天气、年份、月份、星期等需要进行独热编码处理，气温、体感温度、湿度、风速等需要标准化处理。</a:t>
            </a:r>
          </a:p>
        </p:txBody>
      </p:sp>
      <p:pic>
        <p:nvPicPr>
          <p:cNvPr id="8" name="图片 7"/>
          <p:cNvPicPr/>
          <p:nvPr/>
        </p:nvPicPr>
        <p:blipFill>
          <a:blip r:embed="rId3"/>
          <a:stretch>
            <a:fillRect/>
          </a:stretch>
        </p:blipFill>
        <p:spPr>
          <a:xfrm>
            <a:off x="2645653" y="2078452"/>
            <a:ext cx="7072302" cy="46371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设置训练集</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491490"/>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我们选取的训练集比例为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0.7</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，并且采用了随机化数据集以避免时间等数据的影响。</a:t>
            </a:r>
          </a:p>
        </p:txBody>
      </p:sp>
      <p:pic>
        <p:nvPicPr>
          <p:cNvPr id="6" name="图片 5"/>
          <p:cNvPicPr/>
          <p:nvPr/>
        </p:nvPicPr>
        <p:blipFill>
          <a:blip r:embed="rId3"/>
          <a:stretch>
            <a:fillRect/>
          </a:stretch>
        </p:blipFill>
        <p:spPr>
          <a:xfrm>
            <a:off x="2891313" y="1897483"/>
            <a:ext cx="6409373" cy="45917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3</a:t>
            </a:r>
            <a:r>
              <a:rPr lang="zh-CN" altLang="en-US" dirty="0"/>
              <a:t>、</a:t>
            </a:r>
            <a:r>
              <a:rPr lang="en-US" altLang="zh-CN" spc="100" dirty="0" err="1">
                <a:sym typeface="+mn-ea"/>
              </a:rPr>
              <a:t>SKLearn</a:t>
            </a:r>
            <a:r>
              <a:rPr lang="zh-CN" altLang="en-US" spc="100">
                <a:sym typeface="+mn-ea"/>
              </a:rPr>
              <a:t>神经网络模型</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en-US" altLang="zh-CN" sz="2800" b="1" dirty="0" err="1">
                <a:solidFill>
                  <a:srgbClr val="004EA2"/>
                </a:solidFill>
                <a:latin typeface="微软雅黑" panose="020B0503020204020204" pitchFamily="34" charset="-122"/>
                <a:ea typeface="微软雅黑" panose="020B0503020204020204" pitchFamily="34" charset="-122"/>
                <a:sym typeface="+mn-ea"/>
              </a:rPr>
              <a:t>SKLearn</a:t>
            </a:r>
            <a:r>
              <a:rPr lang="zh-CN" altLang="en-US" sz="2800" b="1" dirty="0">
                <a:solidFill>
                  <a:srgbClr val="004EA2"/>
                </a:solidFill>
                <a:latin typeface="微软雅黑" panose="020B0503020204020204" pitchFamily="34" charset="-122"/>
                <a:ea typeface="微软雅黑" panose="020B0503020204020204" pitchFamily="34" charset="-122"/>
                <a:sym typeface="+mn-ea"/>
              </a:rPr>
              <a:t>神经网络</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1253677"/>
          </a:xfrm>
          <a:prstGeom prst="rect">
            <a:avLst/>
          </a:prstGeom>
          <a:noFill/>
        </p:spPr>
        <p:txBody>
          <a:bodyPr wrap="square" rtlCol="0">
            <a:spAutoFit/>
          </a:bodyPr>
          <a:lstStyle/>
          <a:p>
            <a:pPr indent="457200" fontAlgn="auto">
              <a:lnSpc>
                <a:spcPct val="130000"/>
              </a:lnSpc>
            </a:pP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sym typeface="+mn-ea"/>
              </a:rPr>
              <a:t>sklearn.neural_network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scikit-learn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库中的一个模块，通过多层感知器（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MLP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，即一种前馈人工神经网络），完成各种分类和回归任务。我们使用的是后者，即使用</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sym typeface="+mn-ea"/>
              </a:rPr>
              <a:t>MLPRegressor</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进行回归。</a:t>
            </a:r>
          </a:p>
        </p:txBody>
      </p:sp>
      <p:pic>
        <p:nvPicPr>
          <p:cNvPr id="7" name="图片 6"/>
          <p:cNvPicPr/>
          <p:nvPr/>
        </p:nvPicPr>
        <p:blipFill>
          <a:blip r:embed="rId3"/>
          <a:stretch>
            <a:fillRect/>
          </a:stretch>
        </p:blipFill>
        <p:spPr>
          <a:xfrm>
            <a:off x="3131019" y="2478562"/>
            <a:ext cx="6824408" cy="43355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en-US" altLang="zh-CN" sz="2800" b="1" dirty="0" err="1">
                <a:solidFill>
                  <a:srgbClr val="004EA2"/>
                </a:solidFill>
                <a:latin typeface="微软雅黑" panose="020B0503020204020204" pitchFamily="34" charset="-122"/>
                <a:ea typeface="微软雅黑" panose="020B0503020204020204" pitchFamily="34" charset="-122"/>
                <a:sym typeface="+mn-ea"/>
              </a:rPr>
              <a:t>SKLearn</a:t>
            </a:r>
            <a:r>
              <a:rPr lang="zh-CN" altLang="en-US" sz="2800" b="1" dirty="0">
                <a:solidFill>
                  <a:srgbClr val="004EA2"/>
                </a:solidFill>
                <a:latin typeface="微软雅黑" panose="020B0503020204020204" pitchFamily="34" charset="-122"/>
                <a:ea typeface="微软雅黑" panose="020B0503020204020204" pitchFamily="34" charset="-122"/>
                <a:sym typeface="+mn-ea"/>
              </a:rPr>
              <a:t>神经网络结果评测</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853567"/>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左图为预测数目的可视化比较，右侧为数据残差的可视化直方图。</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除此之外，模型的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RMSE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指数为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43.48</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RMSLE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指数为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0.29</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pic>
        <p:nvPicPr>
          <p:cNvPr id="6" name="图片 5"/>
          <p:cNvPicPr/>
          <p:nvPr/>
        </p:nvPicPr>
        <p:blipFill>
          <a:blip r:embed="rId3"/>
          <a:stretch>
            <a:fillRect/>
          </a:stretch>
        </p:blipFill>
        <p:spPr>
          <a:xfrm>
            <a:off x="783626" y="2461690"/>
            <a:ext cx="5312374" cy="3789208"/>
          </a:xfrm>
          <a:prstGeom prst="rect">
            <a:avLst/>
          </a:prstGeom>
        </p:spPr>
      </p:pic>
      <p:pic>
        <p:nvPicPr>
          <p:cNvPr id="8" name="图片 7"/>
          <p:cNvPicPr/>
          <p:nvPr/>
        </p:nvPicPr>
        <p:blipFill>
          <a:blip r:embed="rId4"/>
          <a:stretch>
            <a:fillRect/>
          </a:stretch>
        </p:blipFill>
        <p:spPr>
          <a:xfrm>
            <a:off x="6096000" y="2461690"/>
            <a:ext cx="5312374" cy="37892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4</a:t>
            </a:r>
            <a:r>
              <a:rPr lang="zh-CN" altLang="en-US" dirty="0"/>
              <a:t>、</a:t>
            </a:r>
            <a:r>
              <a:rPr lang="en-US" altLang="zh-CN" dirty="0" err="1"/>
              <a:t>Keras</a:t>
            </a:r>
            <a:r>
              <a:rPr lang="zh-CN" altLang="en-US" dirty="0"/>
              <a:t>构建模型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en-US" altLang="zh-CN" sz="2800" b="1" dirty="0" err="1">
                <a:solidFill>
                  <a:srgbClr val="004EA2"/>
                </a:solidFill>
                <a:latin typeface="微软雅黑" panose="020B0503020204020204" pitchFamily="34" charset="-122"/>
                <a:ea typeface="微软雅黑" panose="020B0503020204020204" pitchFamily="34" charset="-122"/>
                <a:sym typeface="+mn-ea"/>
              </a:rPr>
              <a:t>Keras</a:t>
            </a:r>
            <a:r>
              <a:rPr lang="zh-CN" altLang="en-US" sz="2800" b="1" dirty="0">
                <a:solidFill>
                  <a:srgbClr val="004EA2"/>
                </a:solidFill>
                <a:latin typeface="微软雅黑" panose="020B0503020204020204" pitchFamily="34" charset="-122"/>
                <a:ea typeface="微软雅黑" panose="020B0503020204020204" pitchFamily="34" charset="-122"/>
                <a:sym typeface="+mn-ea"/>
              </a:rPr>
              <a:t>模型设置</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1253677"/>
          </a:xfrm>
          <a:prstGeom prst="rect">
            <a:avLst/>
          </a:prstGeom>
          <a:noFill/>
        </p:spPr>
        <p:txBody>
          <a:bodyPr wrap="square" rtlCol="0">
            <a:spAutoFit/>
          </a:bodyPr>
          <a:lstStyle/>
          <a:p>
            <a:pPr indent="457200" fontAlgn="auto">
              <a:lnSpc>
                <a:spcPct val="130000"/>
              </a:lnSpc>
            </a:pP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sym typeface="+mn-ea"/>
              </a:rPr>
              <a:t>Keras</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是一个开源的深度学习框架，构建于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TensorFlow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之上。</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sym typeface="+mn-ea"/>
              </a:rPr>
              <a:t>Keras</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提供了高层次的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，能够快速构建和训练深度学习模型，而无需处理底层复杂的数学运算或框架细节，主要用途是构建和训练深度学习模型，在计算机视觉、自然语言处理、时间序列分析等领域广泛使用。</a:t>
            </a:r>
          </a:p>
        </p:txBody>
      </p:sp>
      <p:pic>
        <p:nvPicPr>
          <p:cNvPr id="6" name="图片 5"/>
          <p:cNvPicPr/>
          <p:nvPr/>
        </p:nvPicPr>
        <p:blipFill>
          <a:blip r:embed="rId3"/>
          <a:stretch>
            <a:fillRect/>
          </a:stretch>
        </p:blipFill>
        <p:spPr>
          <a:xfrm>
            <a:off x="3203471" y="2478562"/>
            <a:ext cx="6679503" cy="4275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zh-CN" altLang="en-US" sz="2800" b="1" dirty="0">
                <a:solidFill>
                  <a:srgbClr val="004EA2"/>
                </a:solidFill>
                <a:latin typeface="微软雅黑" panose="020B0503020204020204" pitchFamily="34" charset="-122"/>
                <a:ea typeface="微软雅黑" panose="020B0503020204020204" pitchFamily="34" charset="-122"/>
                <a:sym typeface="+mn-ea"/>
              </a:rPr>
              <a:t>过拟合问题与早停法</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1253677"/>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过拟合</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(overfitting)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指的是只能拟合训练数据，但不能很好地拟合不包含在训练数据中的其他数据的状态。这里通过早停法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(early stopping)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来降低参数空间的维度，进而解决这个问题。训练结果如右图所示。</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6"/>
          <p:cNvPicPr/>
          <p:nvPr/>
        </p:nvPicPr>
        <p:blipFill>
          <a:blip r:embed="rId3"/>
          <a:stretch>
            <a:fillRect/>
          </a:stretch>
        </p:blipFill>
        <p:spPr>
          <a:xfrm>
            <a:off x="745351" y="2860657"/>
            <a:ext cx="5211222" cy="3532203"/>
          </a:xfrm>
          <a:prstGeom prst="rect">
            <a:avLst/>
          </a:prstGeom>
        </p:spPr>
      </p:pic>
      <p:pic>
        <p:nvPicPr>
          <p:cNvPr id="8" name="图片 7"/>
          <p:cNvPicPr/>
          <p:nvPr/>
        </p:nvPicPr>
        <p:blipFill>
          <a:blip r:embed="rId4"/>
          <a:stretch>
            <a:fillRect/>
          </a:stretch>
        </p:blipFill>
        <p:spPr>
          <a:xfrm>
            <a:off x="6096000" y="2553802"/>
            <a:ext cx="5274310" cy="41459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p:nvPr/>
        </p:nvPicPr>
        <p:blipFill>
          <a:blip r:embed="rId3"/>
          <a:stretch>
            <a:fillRect/>
          </a:stretch>
        </p:blipFill>
        <p:spPr>
          <a:xfrm>
            <a:off x="6096000" y="2461690"/>
            <a:ext cx="5312373" cy="3789208"/>
          </a:xfrm>
          <a:prstGeom prst="rect">
            <a:avLst/>
          </a:prstGeom>
        </p:spPr>
      </p:pic>
      <p:pic>
        <p:nvPicPr>
          <p:cNvPr id="7" name="图片 6"/>
          <p:cNvPicPr/>
          <p:nvPr/>
        </p:nvPicPr>
        <p:blipFill>
          <a:blip r:embed="rId4"/>
          <a:stretch>
            <a:fillRect/>
          </a:stretch>
        </p:blipFill>
        <p:spPr>
          <a:xfrm>
            <a:off x="783626" y="2461690"/>
            <a:ext cx="5312374" cy="3789208"/>
          </a:xfrm>
          <a:prstGeom prst="rect">
            <a:avLst/>
          </a:prstGeom>
        </p:spPr>
      </p:pic>
      <p:sp>
        <p:nvSpPr>
          <p:cNvPr id="5" name="文本框 4"/>
          <p:cNvSpPr txBox="1"/>
          <p:nvPr/>
        </p:nvSpPr>
        <p:spPr>
          <a:xfrm>
            <a:off x="560935" y="482524"/>
            <a:ext cx="5982288" cy="523220"/>
          </a:xfrm>
          <a:prstGeom prst="rect">
            <a:avLst/>
          </a:prstGeom>
          <a:noFill/>
        </p:spPr>
        <p:txBody>
          <a:bodyPr wrap="square" rtlCol="0">
            <a:spAutoFit/>
          </a:bodyPr>
          <a:lstStyle/>
          <a:p>
            <a:pPr lvl="0" algn="l">
              <a:buClrTx/>
              <a:buSzTx/>
              <a:buFontTx/>
            </a:pPr>
            <a:r>
              <a:rPr lang="en-US" altLang="zh-CN" sz="2800" b="1" dirty="0" err="1">
                <a:solidFill>
                  <a:srgbClr val="004EA2"/>
                </a:solidFill>
                <a:latin typeface="微软雅黑" panose="020B0503020204020204" pitchFamily="34" charset="-122"/>
                <a:ea typeface="微软雅黑" panose="020B0503020204020204" pitchFamily="34" charset="-122"/>
                <a:sym typeface="+mn-ea"/>
              </a:rPr>
              <a:t>Keras</a:t>
            </a:r>
            <a:r>
              <a:rPr lang="zh-CN" altLang="en-US" sz="2800" b="1" dirty="0">
                <a:solidFill>
                  <a:srgbClr val="004EA2"/>
                </a:solidFill>
                <a:latin typeface="微软雅黑" panose="020B0503020204020204" pitchFamily="34" charset="-122"/>
                <a:ea typeface="微软雅黑" panose="020B0503020204020204" pitchFamily="34" charset="-122"/>
                <a:sym typeface="+mn-ea"/>
              </a:rPr>
              <a:t>模型结果评测</a:t>
            </a:r>
            <a:endParaRPr lang="zh-CN" altLang="en-US" sz="2400" b="1" dirty="0">
              <a:solidFill>
                <a:srgbClr val="004EA2"/>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745351" y="1224885"/>
            <a:ext cx="10872907" cy="853567"/>
          </a:xfrm>
          <a:prstGeom prst="rect">
            <a:avLst/>
          </a:prstGeom>
          <a:noFill/>
        </p:spPr>
        <p:txBody>
          <a:bodyPr wrap="square" rtlCol="0">
            <a:spAutoFit/>
          </a:bodyPr>
          <a:lstStyle/>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左图为预测数目的可视化比较，右侧为数据残差的可视化直方图。</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fontAlgn="auto">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除此之外，模型的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RMSE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指数为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48.23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RMSLE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指数为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0.29</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5</a:t>
            </a:r>
            <a:r>
              <a:rPr lang="zh-CN" altLang="en-US" dirty="0"/>
              <a:t>、</a:t>
            </a:r>
            <a:r>
              <a:rPr lang="zh-CN" altLang="en-US" b="1" spc="100" dirty="0"/>
              <a:t>评估和解释性分析</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5131BE8-228F-4407-8FC0-6F8FD400065C}"/>
              </a:ext>
            </a:extLst>
          </p:cNvPr>
          <p:cNvGrpSpPr/>
          <p:nvPr/>
        </p:nvGrpSpPr>
        <p:grpSpPr>
          <a:xfrm>
            <a:off x="-1" y="1384663"/>
            <a:ext cx="12192001" cy="5473337"/>
            <a:chOff x="-1" y="1384663"/>
            <a:chExt cx="12192001" cy="5473337"/>
          </a:xfrm>
        </p:grpSpPr>
        <p:pic>
          <p:nvPicPr>
            <p:cNvPr id="3" name="图片 2">
              <a:extLst>
                <a:ext uri="{FF2B5EF4-FFF2-40B4-BE49-F238E27FC236}">
                  <a16:creationId xmlns:a16="http://schemas.microsoft.com/office/drawing/2014/main" id="{A577C2E2-95FF-463B-BDBE-C6BBF4D5AE46}"/>
                </a:ext>
              </a:extLst>
            </p:cNvPr>
            <p:cNvPicPr>
              <a:picLocks noChangeAspect="1"/>
            </p:cNvPicPr>
            <p:nvPr/>
          </p:nvPicPr>
          <p:blipFill rotWithShape="1">
            <a:blip r:embed="rId19"/>
            <a:srcRect l="72080"/>
            <a:stretch/>
          </p:blipFill>
          <p:spPr>
            <a:xfrm>
              <a:off x="-1" y="1384663"/>
              <a:ext cx="1945527" cy="5473337"/>
            </a:xfrm>
            <a:prstGeom prst="rect">
              <a:avLst/>
            </a:prstGeom>
          </p:spPr>
        </p:pic>
        <p:pic>
          <p:nvPicPr>
            <p:cNvPr id="2" name="图片 1">
              <a:extLst>
                <a:ext uri="{FF2B5EF4-FFF2-40B4-BE49-F238E27FC236}">
                  <a16:creationId xmlns:a16="http://schemas.microsoft.com/office/drawing/2014/main" id="{9040C462-895B-41D4-AF0E-79B09B706E7C}"/>
                </a:ext>
              </a:extLst>
            </p:cNvPr>
            <p:cNvPicPr>
              <a:picLocks noChangeAspect="1"/>
            </p:cNvPicPr>
            <p:nvPr/>
          </p:nvPicPr>
          <p:blipFill rotWithShape="1">
            <a:blip r:embed="rId20"/>
            <a:srcRect l="15913"/>
            <a:stretch/>
          </p:blipFill>
          <p:spPr>
            <a:xfrm>
              <a:off x="1940104" y="1817345"/>
              <a:ext cx="10251896" cy="4993726"/>
            </a:xfrm>
            <a:prstGeom prst="rect">
              <a:avLst/>
            </a:prstGeom>
          </p:spPr>
        </p:pic>
      </p:grpSp>
      <p:sp>
        <p:nvSpPr>
          <p:cNvPr id="8" name="文本框 7"/>
          <p:cNvSpPr txBox="1"/>
          <p:nvPr/>
        </p:nvSpPr>
        <p:spPr>
          <a:xfrm>
            <a:off x="560935" y="494317"/>
            <a:ext cx="59822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004EA2"/>
                </a:solidFill>
                <a:latin typeface="微软雅黑" panose="020B0503020204020204" pitchFamily="34" charset="-122"/>
                <a:ea typeface="微软雅黑" panose="020B0503020204020204" pitchFamily="34" charset="-122"/>
                <a:sym typeface="+mn-ea"/>
              </a:rPr>
              <a:t>结论与解释性分析</a:t>
            </a:r>
            <a:endParaRPr kumimoji="0" lang="zh-CN" altLang="en-US" sz="24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sym typeface="+mn-ea"/>
            </a:endParaRPr>
          </a:p>
        </p:txBody>
      </p:sp>
      <p:sp>
        <p:nvSpPr>
          <p:cNvPr id="37" name="文本框 31">
            <a:extLst>
              <a:ext uri="{FF2B5EF4-FFF2-40B4-BE49-F238E27FC236}">
                <a16:creationId xmlns:a16="http://schemas.microsoft.com/office/drawing/2014/main" id="{C34F6F36-418C-4966-8761-D27640E87750}"/>
              </a:ext>
            </a:extLst>
          </p:cNvPr>
          <p:cNvSpPr txBox="1"/>
          <p:nvPr>
            <p:custDataLst>
              <p:tags r:id="rId1"/>
            </p:custDataLst>
          </p:nvPr>
        </p:nvSpPr>
        <p:spPr>
          <a:xfrm>
            <a:off x="1117301" y="5449128"/>
            <a:ext cx="1645606" cy="156065"/>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spc="100" dirty="0">
                <a:solidFill>
                  <a:srgbClr val="004EA2"/>
                </a:solidFill>
                <a:latin typeface="微软雅黑" panose="020B0503020204020204" pitchFamily="34" charset="-122"/>
                <a:ea typeface="微软雅黑" panose="020B0503020204020204" pitchFamily="34" charset="-122"/>
                <a:cs typeface="胖墩墩体" charset="-122"/>
                <a:sym typeface="+mn-ea"/>
              </a:rPr>
              <a:t>时间方面</a:t>
            </a:r>
            <a:endParaRPr lang="en-US" altLang="zh-CN" sz="1600" b="1" spc="100" dirty="0">
              <a:solidFill>
                <a:srgbClr val="004EA2"/>
              </a:solidFill>
              <a:latin typeface="微软雅黑" panose="020B0503020204020204" pitchFamily="34" charset="-122"/>
              <a:ea typeface="微软雅黑" panose="020B0503020204020204" pitchFamily="34" charset="-122"/>
              <a:cs typeface="胖墩墩体" charset="-122"/>
              <a:sym typeface="+mn-ea"/>
            </a:endParaRPr>
          </a:p>
        </p:txBody>
      </p:sp>
      <p:sp>
        <p:nvSpPr>
          <p:cNvPr id="38" name="文本框 37">
            <a:extLst>
              <a:ext uri="{FF2B5EF4-FFF2-40B4-BE49-F238E27FC236}">
                <a16:creationId xmlns:a16="http://schemas.microsoft.com/office/drawing/2014/main" id="{FAEFA5FA-5BED-493B-9032-B43C38705E42}"/>
              </a:ext>
            </a:extLst>
          </p:cNvPr>
          <p:cNvSpPr txBox="1"/>
          <p:nvPr>
            <p:custDataLst>
              <p:tags r:id="rId2"/>
            </p:custDataLst>
          </p:nvPr>
        </p:nvSpPr>
        <p:spPr>
          <a:xfrm>
            <a:off x="9301045" y="2768507"/>
            <a:ext cx="2459143" cy="2344420"/>
          </a:xfrm>
          <a:prstGeom prst="rect">
            <a:avLst/>
          </a:prstGeom>
          <a:noFill/>
        </p:spPr>
        <p:txBody>
          <a:bodyPr wrap="square" lIns="0" tIns="0" rIns="0" bIns="0" rtlCol="0" anchor="t" anchorCtr="0">
            <a:noAutofit/>
          </a:bodyPr>
          <a:lstStyle/>
          <a:p>
            <a:pPr algn="ctr">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其他因素如气温、体感气温、湿度、风速等都会对共享单车租赁量造成影响，但由于分析过于复杂且缺少部分数据，没有进行进一步分析</a:t>
            </a:r>
          </a:p>
        </p:txBody>
      </p:sp>
      <p:sp>
        <p:nvSpPr>
          <p:cNvPr id="39" name="文本框 34">
            <a:extLst>
              <a:ext uri="{FF2B5EF4-FFF2-40B4-BE49-F238E27FC236}">
                <a16:creationId xmlns:a16="http://schemas.microsoft.com/office/drawing/2014/main" id="{9DA3361A-F97E-4209-8E95-CA0626AB8AD2}"/>
              </a:ext>
            </a:extLst>
          </p:cNvPr>
          <p:cNvSpPr txBox="1"/>
          <p:nvPr>
            <p:custDataLst>
              <p:tags r:id="rId3"/>
            </p:custDataLst>
          </p:nvPr>
        </p:nvSpPr>
        <p:spPr>
          <a:xfrm>
            <a:off x="10047263" y="2348556"/>
            <a:ext cx="967888" cy="200374"/>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spc="100" dirty="0">
                <a:solidFill>
                  <a:srgbClr val="004EA2"/>
                </a:solidFill>
                <a:latin typeface="微软雅黑" panose="020B0503020204020204" pitchFamily="34" charset="-122"/>
                <a:ea typeface="微软雅黑" panose="020B0503020204020204" pitchFamily="34" charset="-122"/>
              </a:rPr>
              <a:t>其他因素</a:t>
            </a:r>
            <a:endParaRPr lang="en-US" altLang="zh-CN" sz="1600" b="1" spc="100" dirty="0">
              <a:solidFill>
                <a:srgbClr val="004EA2"/>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0B7BD246-4945-4B7F-8100-C1B5181F0E77}"/>
              </a:ext>
            </a:extLst>
          </p:cNvPr>
          <p:cNvSpPr txBox="1"/>
          <p:nvPr>
            <p:custDataLst>
              <p:tags r:id="rId4"/>
            </p:custDataLst>
          </p:nvPr>
        </p:nvSpPr>
        <p:spPr>
          <a:xfrm>
            <a:off x="5755726" y="3749133"/>
            <a:ext cx="2913717" cy="1639732"/>
          </a:xfrm>
          <a:prstGeom prst="rect">
            <a:avLst/>
          </a:prstGeom>
          <a:noFill/>
        </p:spPr>
        <p:txBody>
          <a:bodyPr wrap="square" lIns="0" tIns="0" rIns="0" bIns="0" rtlCol="0" anchor="t" anchorCtr="0">
            <a:noAutofit/>
          </a:bodyPr>
          <a:lstStyle/>
          <a:p>
            <a:pPr algn="ctr">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对于假日与非假日而言，不同的属性会使共享单车的租赁用户的租赁原因不同，如前者可能导致游客等租赁增加，后者会使上班族等租赁增加</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1" name="文本框 33">
            <a:extLst>
              <a:ext uri="{FF2B5EF4-FFF2-40B4-BE49-F238E27FC236}">
                <a16:creationId xmlns:a16="http://schemas.microsoft.com/office/drawing/2014/main" id="{2755A31B-E588-4D10-98A2-F69768A410CD}"/>
              </a:ext>
            </a:extLst>
          </p:cNvPr>
          <p:cNvSpPr txBox="1"/>
          <p:nvPr>
            <p:custDataLst>
              <p:tags r:id="rId5"/>
            </p:custDataLst>
          </p:nvPr>
        </p:nvSpPr>
        <p:spPr>
          <a:xfrm>
            <a:off x="6728641" y="3350511"/>
            <a:ext cx="967888" cy="200374"/>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spc="100" dirty="0">
                <a:solidFill>
                  <a:srgbClr val="004EA2"/>
                </a:solidFill>
                <a:latin typeface="微软雅黑" panose="020B0503020204020204" pitchFamily="34" charset="-122"/>
                <a:ea typeface="微软雅黑" panose="020B0503020204020204" pitchFamily="34" charset="-122"/>
                <a:sym typeface="+mn-ea"/>
              </a:rPr>
              <a:t>日期属性方面</a:t>
            </a:r>
            <a:endParaRPr lang="en-US" altLang="zh-CN" sz="1600" b="1" spc="100" dirty="0">
              <a:solidFill>
                <a:srgbClr val="004EA2"/>
              </a:solidFill>
              <a:latin typeface="微软雅黑" panose="020B0503020204020204" pitchFamily="34" charset="-122"/>
              <a:ea typeface="微软雅黑" panose="020B0503020204020204" pitchFamily="34" charset="-122"/>
              <a:sym typeface="+mn-ea"/>
            </a:endParaRPr>
          </a:p>
        </p:txBody>
      </p:sp>
      <p:sp>
        <p:nvSpPr>
          <p:cNvPr id="42" name="文本框 41">
            <a:extLst>
              <a:ext uri="{FF2B5EF4-FFF2-40B4-BE49-F238E27FC236}">
                <a16:creationId xmlns:a16="http://schemas.microsoft.com/office/drawing/2014/main" id="{26340F42-BCDD-4D14-BEF2-692AD0628D56}"/>
              </a:ext>
            </a:extLst>
          </p:cNvPr>
          <p:cNvSpPr txBox="1"/>
          <p:nvPr>
            <p:custDataLst>
              <p:tags r:id="rId6"/>
            </p:custDataLst>
          </p:nvPr>
        </p:nvSpPr>
        <p:spPr>
          <a:xfrm>
            <a:off x="3633946" y="4964322"/>
            <a:ext cx="1807554" cy="1054100"/>
          </a:xfrm>
          <a:prstGeom prst="rect">
            <a:avLst/>
          </a:prstGeom>
          <a:noFill/>
        </p:spPr>
        <p:txBody>
          <a:bodyPr wrap="square" lIns="0" tIns="0" rIns="0" bIns="0" rtlCol="0" anchor="t" anchorCtr="0">
            <a:noAutofit/>
          </a:bodyPr>
          <a:lstStyle/>
          <a:p>
            <a:pPr algn="ctr">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天气好的情况下，非注册用户与注册用户的租赁量都显著提高</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3" name="文本框 32">
            <a:extLst>
              <a:ext uri="{FF2B5EF4-FFF2-40B4-BE49-F238E27FC236}">
                <a16:creationId xmlns:a16="http://schemas.microsoft.com/office/drawing/2014/main" id="{C2A7453B-6046-4B37-892E-1ECA348DF781}"/>
              </a:ext>
            </a:extLst>
          </p:cNvPr>
          <p:cNvSpPr txBox="1"/>
          <p:nvPr>
            <p:custDataLst>
              <p:tags r:id="rId7"/>
            </p:custDataLst>
          </p:nvPr>
        </p:nvSpPr>
        <p:spPr>
          <a:xfrm>
            <a:off x="4053779" y="4672561"/>
            <a:ext cx="967888" cy="200374"/>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spc="100" dirty="0">
                <a:solidFill>
                  <a:srgbClr val="004EA2"/>
                </a:solidFill>
                <a:latin typeface="微软雅黑" panose="020B0503020204020204" pitchFamily="34" charset="-122"/>
                <a:ea typeface="微软雅黑" panose="020B0503020204020204" pitchFamily="34" charset="-122"/>
                <a:sym typeface="+mn-ea"/>
              </a:rPr>
              <a:t>天气方面</a:t>
            </a:r>
            <a:endParaRPr lang="en-US" altLang="zh-CN" sz="1600" b="1" spc="100" dirty="0">
              <a:solidFill>
                <a:srgbClr val="004EA2"/>
              </a:solidFill>
              <a:latin typeface="微软雅黑" panose="020B0503020204020204" pitchFamily="34" charset="-122"/>
              <a:ea typeface="微软雅黑" panose="020B0503020204020204" pitchFamily="34" charset="-122"/>
              <a:sym typeface="+mn-ea"/>
            </a:endParaRPr>
          </a:p>
        </p:txBody>
      </p:sp>
      <p:sp>
        <p:nvSpPr>
          <p:cNvPr id="44" name="文本框 43">
            <a:extLst>
              <a:ext uri="{FF2B5EF4-FFF2-40B4-BE49-F238E27FC236}">
                <a16:creationId xmlns:a16="http://schemas.microsoft.com/office/drawing/2014/main" id="{7839C542-DF10-4AB7-8EFB-3107B24F332F}"/>
              </a:ext>
            </a:extLst>
          </p:cNvPr>
          <p:cNvSpPr txBox="1"/>
          <p:nvPr>
            <p:custDataLst>
              <p:tags r:id="rId8"/>
            </p:custDataLst>
          </p:nvPr>
        </p:nvSpPr>
        <p:spPr>
          <a:xfrm>
            <a:off x="1019036" y="5735535"/>
            <a:ext cx="1842135" cy="525145"/>
          </a:xfrm>
          <a:prstGeom prst="rect">
            <a:avLst/>
          </a:prstGeom>
          <a:noFill/>
        </p:spPr>
        <p:txBody>
          <a:bodyPr wrap="square" lIns="0" tIns="0" rIns="0" bIns="0" rtlCol="0" anchor="t" anchorCtr="0">
            <a:noAutofit/>
          </a:bodyPr>
          <a:lstStyle/>
          <a:p>
            <a:pPr indent="0" algn="ctr" fontAlgn="auto">
              <a:lnSpc>
                <a:spcPct val="15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上下班高峰期的共享单车租赁量较高</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45" name="组合 44">
            <a:extLst>
              <a:ext uri="{FF2B5EF4-FFF2-40B4-BE49-F238E27FC236}">
                <a16:creationId xmlns:a16="http://schemas.microsoft.com/office/drawing/2014/main" id="{E79D8698-3791-4A9E-AAB5-F4F61AA4EFDF}"/>
              </a:ext>
            </a:extLst>
          </p:cNvPr>
          <p:cNvGrpSpPr/>
          <p:nvPr/>
        </p:nvGrpSpPr>
        <p:grpSpPr>
          <a:xfrm>
            <a:off x="1661383" y="4762839"/>
            <a:ext cx="578263" cy="578263"/>
            <a:chOff x="1384300" y="3517487"/>
            <a:chExt cx="578263" cy="578263"/>
          </a:xfrm>
        </p:grpSpPr>
        <p:sp>
          <p:nvSpPr>
            <p:cNvPr id="46" name="椭圆 45">
              <a:extLst>
                <a:ext uri="{FF2B5EF4-FFF2-40B4-BE49-F238E27FC236}">
                  <a16:creationId xmlns:a16="http://schemas.microsoft.com/office/drawing/2014/main" id="{36577F62-4D25-4C29-B343-319CC5C62788}"/>
                </a:ext>
              </a:extLst>
            </p:cNvPr>
            <p:cNvSpPr/>
            <p:nvPr>
              <p:custDataLst>
                <p:tags r:id="rId15"/>
              </p:custDataLst>
            </p:nvPr>
          </p:nvSpPr>
          <p:spPr>
            <a:xfrm>
              <a:off x="1593785" y="3703546"/>
              <a:ext cx="162112" cy="162112"/>
            </a:xfrm>
            <a:prstGeom prst="ellipse">
              <a:avLst/>
            </a:prstGeom>
            <a:ln w="53975">
              <a:solidFill>
                <a:srgbClr val="FFFFFF"/>
              </a:solidFill>
            </a:ln>
            <a:effectLst>
              <a:outerShdw blurRad="762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47" name="椭圆 46">
              <a:extLst>
                <a:ext uri="{FF2B5EF4-FFF2-40B4-BE49-F238E27FC236}">
                  <a16:creationId xmlns:a16="http://schemas.microsoft.com/office/drawing/2014/main" id="{FF2CEEC8-0825-49CB-9C49-D8BB50379696}"/>
                </a:ext>
              </a:extLst>
            </p:cNvPr>
            <p:cNvSpPr/>
            <p:nvPr>
              <p:custDataLst>
                <p:tags r:id="rId16"/>
              </p:custDataLst>
            </p:nvPr>
          </p:nvSpPr>
          <p:spPr>
            <a:xfrm>
              <a:off x="1384300" y="3517487"/>
              <a:ext cx="578263" cy="578263"/>
            </a:xfrm>
            <a:prstGeom prst="ellipse">
              <a:avLst/>
            </a:prstGeom>
            <a:solidFill>
              <a:schemeClr val="accent1">
                <a:lumMod val="50000"/>
                <a:lumOff val="5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grpSp>
        <p:nvGrpSpPr>
          <p:cNvPr id="48" name="组合 47">
            <a:extLst>
              <a:ext uri="{FF2B5EF4-FFF2-40B4-BE49-F238E27FC236}">
                <a16:creationId xmlns:a16="http://schemas.microsoft.com/office/drawing/2014/main" id="{BE76BBDF-4C63-4EB0-8897-8CD2838940C1}"/>
              </a:ext>
            </a:extLst>
          </p:cNvPr>
          <p:cNvGrpSpPr/>
          <p:nvPr/>
        </p:nvGrpSpPr>
        <p:grpSpPr>
          <a:xfrm>
            <a:off x="6923594" y="2638665"/>
            <a:ext cx="578263" cy="578263"/>
            <a:chOff x="5247640" y="1959396"/>
            <a:chExt cx="578263" cy="578263"/>
          </a:xfrm>
        </p:grpSpPr>
        <p:sp>
          <p:nvSpPr>
            <p:cNvPr id="49" name="椭圆 48">
              <a:extLst>
                <a:ext uri="{FF2B5EF4-FFF2-40B4-BE49-F238E27FC236}">
                  <a16:creationId xmlns:a16="http://schemas.microsoft.com/office/drawing/2014/main" id="{C33B24DD-ABA7-4444-975B-3965C905282D}"/>
                </a:ext>
              </a:extLst>
            </p:cNvPr>
            <p:cNvSpPr/>
            <p:nvPr>
              <p:custDataLst>
                <p:tags r:id="rId13"/>
              </p:custDataLst>
            </p:nvPr>
          </p:nvSpPr>
          <p:spPr>
            <a:xfrm>
              <a:off x="5455575" y="2133131"/>
              <a:ext cx="162112" cy="162112"/>
            </a:xfrm>
            <a:prstGeom prst="ellipse">
              <a:avLst/>
            </a:prstGeom>
            <a:ln w="53975">
              <a:solidFill>
                <a:srgbClr val="FFFFFF"/>
              </a:solidFill>
            </a:ln>
            <a:effectLst>
              <a:outerShdw blurRad="762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50" name="椭圆 49">
              <a:extLst>
                <a:ext uri="{FF2B5EF4-FFF2-40B4-BE49-F238E27FC236}">
                  <a16:creationId xmlns:a16="http://schemas.microsoft.com/office/drawing/2014/main" id="{5912E7EC-C9BF-474A-877E-3D4761159B6C}"/>
                </a:ext>
              </a:extLst>
            </p:cNvPr>
            <p:cNvSpPr/>
            <p:nvPr>
              <p:custDataLst>
                <p:tags r:id="rId14"/>
              </p:custDataLst>
            </p:nvPr>
          </p:nvSpPr>
          <p:spPr>
            <a:xfrm>
              <a:off x="5247640" y="1959396"/>
              <a:ext cx="578263" cy="578263"/>
            </a:xfrm>
            <a:prstGeom prst="ellipse">
              <a:avLst/>
            </a:prstGeom>
            <a:solidFill>
              <a:schemeClr val="accent1">
                <a:lumMod val="50000"/>
                <a:lumOff val="5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grpSp>
        <p:nvGrpSpPr>
          <p:cNvPr id="51" name="组合 50">
            <a:extLst>
              <a:ext uri="{FF2B5EF4-FFF2-40B4-BE49-F238E27FC236}">
                <a16:creationId xmlns:a16="http://schemas.microsoft.com/office/drawing/2014/main" id="{AA6C169F-1164-41BB-8DC5-2B362E6FF137}"/>
              </a:ext>
            </a:extLst>
          </p:cNvPr>
          <p:cNvGrpSpPr/>
          <p:nvPr/>
        </p:nvGrpSpPr>
        <p:grpSpPr>
          <a:xfrm>
            <a:off x="10242357" y="1646251"/>
            <a:ext cx="578263" cy="578263"/>
            <a:chOff x="7178675" y="1352336"/>
            <a:chExt cx="578263" cy="578263"/>
          </a:xfrm>
        </p:grpSpPr>
        <p:sp>
          <p:nvSpPr>
            <p:cNvPr id="52" name="椭圆 51">
              <a:extLst>
                <a:ext uri="{FF2B5EF4-FFF2-40B4-BE49-F238E27FC236}">
                  <a16:creationId xmlns:a16="http://schemas.microsoft.com/office/drawing/2014/main" id="{165C762E-D1CB-4F52-974F-B64BA914D5BD}"/>
                </a:ext>
              </a:extLst>
            </p:cNvPr>
            <p:cNvSpPr/>
            <p:nvPr>
              <p:custDataLst>
                <p:tags r:id="rId11"/>
              </p:custDataLst>
            </p:nvPr>
          </p:nvSpPr>
          <p:spPr>
            <a:xfrm>
              <a:off x="7386469" y="1541517"/>
              <a:ext cx="162112" cy="162112"/>
            </a:xfrm>
            <a:prstGeom prst="ellipse">
              <a:avLst/>
            </a:prstGeom>
            <a:ln w="53975">
              <a:solidFill>
                <a:srgbClr val="FFFFFF"/>
              </a:solidFill>
            </a:ln>
            <a:effectLst>
              <a:outerShdw blurRad="762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53" name="椭圆 52">
              <a:extLst>
                <a:ext uri="{FF2B5EF4-FFF2-40B4-BE49-F238E27FC236}">
                  <a16:creationId xmlns:a16="http://schemas.microsoft.com/office/drawing/2014/main" id="{DF8BF587-512B-4256-995B-A0F96EAC53D5}"/>
                </a:ext>
              </a:extLst>
            </p:cNvPr>
            <p:cNvSpPr/>
            <p:nvPr>
              <p:custDataLst>
                <p:tags r:id="rId12"/>
              </p:custDataLst>
            </p:nvPr>
          </p:nvSpPr>
          <p:spPr>
            <a:xfrm>
              <a:off x="7178675" y="1352336"/>
              <a:ext cx="578263" cy="578263"/>
            </a:xfrm>
            <a:prstGeom prst="ellipse">
              <a:avLst/>
            </a:prstGeom>
            <a:solidFill>
              <a:schemeClr val="accent1">
                <a:lumMod val="50000"/>
                <a:lumOff val="5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grpSp>
        <p:nvGrpSpPr>
          <p:cNvPr id="54" name="组合 53">
            <a:extLst>
              <a:ext uri="{FF2B5EF4-FFF2-40B4-BE49-F238E27FC236}">
                <a16:creationId xmlns:a16="http://schemas.microsoft.com/office/drawing/2014/main" id="{B620AB66-8468-42B7-959F-CDF6C662593D}"/>
              </a:ext>
            </a:extLst>
          </p:cNvPr>
          <p:cNvGrpSpPr/>
          <p:nvPr/>
        </p:nvGrpSpPr>
        <p:grpSpPr>
          <a:xfrm>
            <a:off x="4248592" y="3990736"/>
            <a:ext cx="578263" cy="578263"/>
            <a:chOff x="3316605" y="2920786"/>
            <a:chExt cx="578263" cy="578263"/>
          </a:xfrm>
        </p:grpSpPr>
        <p:sp>
          <p:nvSpPr>
            <p:cNvPr id="55" name="椭圆 54">
              <a:extLst>
                <a:ext uri="{FF2B5EF4-FFF2-40B4-BE49-F238E27FC236}">
                  <a16:creationId xmlns:a16="http://schemas.microsoft.com/office/drawing/2014/main" id="{32559B67-068D-409D-B10D-49C5E7DE01F0}"/>
                </a:ext>
              </a:extLst>
            </p:cNvPr>
            <p:cNvSpPr/>
            <p:nvPr>
              <p:custDataLst>
                <p:tags r:id="rId9"/>
              </p:custDataLst>
            </p:nvPr>
          </p:nvSpPr>
          <p:spPr>
            <a:xfrm>
              <a:off x="3524680" y="3126372"/>
              <a:ext cx="162112" cy="162112"/>
            </a:xfrm>
            <a:prstGeom prst="ellipse">
              <a:avLst/>
            </a:prstGeom>
            <a:ln w="53975">
              <a:solidFill>
                <a:srgbClr val="FFFFFF"/>
              </a:solidFill>
            </a:ln>
            <a:effectLst>
              <a:outerShdw blurRad="762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56" name="椭圆 55">
              <a:extLst>
                <a:ext uri="{FF2B5EF4-FFF2-40B4-BE49-F238E27FC236}">
                  <a16:creationId xmlns:a16="http://schemas.microsoft.com/office/drawing/2014/main" id="{09839B18-DAFD-4BC6-9208-14FD43BF35BC}"/>
                </a:ext>
              </a:extLst>
            </p:cNvPr>
            <p:cNvSpPr/>
            <p:nvPr>
              <p:custDataLst>
                <p:tags r:id="rId10"/>
              </p:custDataLst>
            </p:nvPr>
          </p:nvSpPr>
          <p:spPr>
            <a:xfrm>
              <a:off x="3316605" y="2920786"/>
              <a:ext cx="578263" cy="578263"/>
            </a:xfrm>
            <a:prstGeom prst="ellipse">
              <a:avLst/>
            </a:prstGeom>
            <a:solidFill>
              <a:schemeClr val="accent1">
                <a:lumMod val="50000"/>
                <a:lumOff val="5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grpSp>
      <p:sp>
        <p:nvSpPr>
          <p:cNvPr id="74" name="文本框 73">
            <a:extLst>
              <a:ext uri="{FF2B5EF4-FFF2-40B4-BE49-F238E27FC236}">
                <a16:creationId xmlns:a16="http://schemas.microsoft.com/office/drawing/2014/main" id="{C2AEEE43-CBEB-4B93-8EDC-3221D4E0E946}"/>
              </a:ext>
            </a:extLst>
          </p:cNvPr>
          <p:cNvSpPr txBox="1"/>
          <p:nvPr/>
        </p:nvSpPr>
        <p:spPr>
          <a:xfrm>
            <a:off x="560935" y="1277557"/>
            <a:ext cx="5428385" cy="2264851"/>
          </a:xfrm>
          <a:prstGeom prst="rect">
            <a:avLst/>
          </a:prstGeom>
          <a:noFill/>
        </p:spPr>
        <p:txBody>
          <a:bodyPr wrap="square" rtlCol="0">
            <a:spAutoFit/>
          </a:bodyPr>
          <a:lstStyle/>
          <a:p>
            <a:pPr indent="360000" fontAlgn="auto">
              <a:lnSpc>
                <a:spcPct val="150000"/>
              </a:lnSpc>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在本次作业中，我们小组利用了</a:t>
            </a: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SKLearn</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NN</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神经网络和</a:t>
            </a:r>
            <a:r>
              <a:rPr kumimoji="0" lang="en-US" altLang="zh-CN"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Keras</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模型进行共享单车租赁量的预测，两者的拟合情况都较好，前者的</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RMSE</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值</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(43.48)</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低于后者</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(48.23)</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，而两者的</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RMSLE</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值都为</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0.29</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，说明模型的确有较好的预测效果。</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360000" fontAlgn="auto">
              <a:lnSpc>
                <a:spcPct val="150000"/>
              </a:lnSpc>
            </a:pPr>
            <a:r>
              <a:rPr lang="zh-CN" altLang="en-US" sz="1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通过对这些因素的分析，可以通过制定适宜的共享单车的优惠或套餐、针对租赁量提高流转率等方法提高收益。</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60935" y="494317"/>
            <a:ext cx="59822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rPr>
              <a:t>项目实践与项目自评</a:t>
            </a:r>
            <a:endParaRPr kumimoji="0" lang="zh-CN" altLang="en-US" sz="24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文本框 8"/>
          <p:cNvSpPr txBox="1"/>
          <p:nvPr/>
        </p:nvSpPr>
        <p:spPr>
          <a:xfrm>
            <a:off x="745350" y="1494116"/>
            <a:ext cx="10872907" cy="853567"/>
          </a:xfrm>
          <a:prstGeom prst="rect">
            <a:avLst/>
          </a:prstGeom>
          <a:noFill/>
        </p:spPr>
        <p:txBody>
          <a:bodyPr wrap="square" rtlCol="0">
            <a:spAutoFit/>
          </a:bodyPr>
          <a:lstStyle/>
          <a:p>
            <a:pPr marL="0" marR="0" lvl="0" indent="457200" algn="l"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最后，可以通过输入数据（日期、小时、是否为假日、天气、气温、风速等）对相应条件下的租赁量进行预测，如下图是通过测试一组随机数据对租赁量进行预测的结果：</a:t>
            </a:r>
          </a:p>
        </p:txBody>
      </p:sp>
      <p:sp>
        <p:nvSpPr>
          <p:cNvPr id="6" name="矩形: 圆角 5"/>
          <p:cNvSpPr/>
          <p:nvPr>
            <p:custDataLst>
              <p:tags r:id="rId1"/>
            </p:custDataLst>
          </p:nvPr>
        </p:nvSpPr>
        <p:spPr>
          <a:xfrm>
            <a:off x="560935" y="4186811"/>
            <a:ext cx="10872908" cy="2009519"/>
          </a:xfrm>
          <a:prstGeom prst="roundRect">
            <a:avLst>
              <a:gd name="adj" fmla="val 50000"/>
            </a:avLst>
          </a:prstGeom>
          <a:solidFill>
            <a:srgbClr val="FFFFFF"/>
          </a:solidFill>
          <a:ln w="3175">
            <a:gradFill>
              <a:gsLst>
                <a:gs pos="0">
                  <a:schemeClr val="accent1">
                    <a:lumMod val="40000"/>
                    <a:lumOff val="60000"/>
                    <a:alpha val="70000"/>
                  </a:schemeClr>
                </a:gs>
                <a:gs pos="100000">
                  <a:schemeClr val="accent1">
                    <a:lumMod val="20000"/>
                    <a:lumOff val="80000"/>
                    <a:alpha val="0"/>
                  </a:schemeClr>
                </a:gs>
              </a:gsLst>
              <a:lin ang="5400000" scaled="1"/>
            </a:gradFill>
          </a:ln>
          <a:effectLst>
            <a:outerShdw blurRad="254000" dist="127000" dir="2700000" algn="tl" rotWithShape="0">
              <a:schemeClr val="accent1">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079000" tIns="88820" rIns="466964" bIns="88821" numCol="1" spcCol="0" rtlCol="0" fromWordArt="0" anchor="ctr" anchorCtr="0" forceAA="0" compatLnSpc="1">
            <a:no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zh-CN" altLang="zh-CN" sz="1200" b="0" i="0" u="none" strike="noStrike" kern="1200" cap="none" spc="0" normalizeH="0" baseline="0" noProof="0" dirty="0">
              <a:ln>
                <a:noFill/>
              </a:ln>
              <a:solidFill>
                <a:prstClr val="black">
                  <a:lumMod val="100000"/>
                </a:prstClr>
              </a:solidFill>
              <a:effectLst/>
              <a:uLnTx/>
              <a:uFillTx/>
              <a:latin typeface="等线" panose="02010600030101010101" charset="-122"/>
              <a:ea typeface="等线" panose="02010600030101010101" charset="-122"/>
              <a:cs typeface="+mn-ea"/>
              <a:sym typeface="+mn-ea"/>
            </a:endParaRPr>
          </a:p>
        </p:txBody>
      </p:sp>
      <p:sp>
        <p:nvSpPr>
          <p:cNvPr id="10" name="文本框 9"/>
          <p:cNvSpPr txBox="1"/>
          <p:nvPr>
            <p:custDataLst>
              <p:tags r:id="rId2"/>
            </p:custDataLst>
          </p:nvPr>
        </p:nvSpPr>
        <p:spPr>
          <a:xfrm>
            <a:off x="1099408" y="4357172"/>
            <a:ext cx="23426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rPr>
              <a:t>优点</a:t>
            </a:r>
            <a:endParaRPr kumimoji="0" lang="zh-CN" altLang="en-US" sz="18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11" name="图片 10"/>
          <p:cNvPicPr>
            <a:picLocks noChangeAspect="1"/>
          </p:cNvPicPr>
          <p:nvPr/>
        </p:nvPicPr>
        <p:blipFill>
          <a:blip r:embed="rId8"/>
          <a:stretch>
            <a:fillRect/>
          </a:stretch>
        </p:blipFill>
        <p:spPr>
          <a:xfrm>
            <a:off x="1799872" y="2745137"/>
            <a:ext cx="8592255" cy="1063203"/>
          </a:xfrm>
          <a:prstGeom prst="rect">
            <a:avLst/>
          </a:prstGeom>
        </p:spPr>
      </p:pic>
      <p:sp>
        <p:nvSpPr>
          <p:cNvPr id="12" name="文本框 11"/>
          <p:cNvSpPr txBox="1"/>
          <p:nvPr>
            <p:custDataLst>
              <p:tags r:id="rId3"/>
            </p:custDataLst>
          </p:nvPr>
        </p:nvSpPr>
        <p:spPr>
          <a:xfrm>
            <a:off x="1713363" y="4666615"/>
            <a:ext cx="4145328" cy="1497654"/>
          </a:xfrm>
          <a:prstGeom prst="rect">
            <a:avLst/>
          </a:prstGeom>
          <a:noFill/>
        </p:spPr>
        <p:txBody>
          <a:bodyPr wrap="square" rtlCol="0">
            <a:spAutoFit/>
          </a:body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具有实际应用的意义，可用于共享单车和其他类似行业的预测；</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与实际的情形拟合度较高，有一定的可靠性。</a:t>
            </a:r>
          </a:p>
        </p:txBody>
      </p:sp>
      <p:sp>
        <p:nvSpPr>
          <p:cNvPr id="13" name="文本框 12"/>
          <p:cNvSpPr txBox="1"/>
          <p:nvPr>
            <p:custDataLst>
              <p:tags r:id="rId4"/>
            </p:custDataLst>
          </p:nvPr>
        </p:nvSpPr>
        <p:spPr>
          <a:xfrm>
            <a:off x="5858691" y="4354546"/>
            <a:ext cx="23426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rPr>
              <a:t>缺点</a:t>
            </a:r>
            <a:endParaRPr kumimoji="0" lang="zh-CN" altLang="en-US" sz="1800" b="1" i="0" u="none" strike="noStrike" kern="1200" cap="none" spc="0" normalizeH="0" baseline="0" noProof="0" dirty="0">
              <a:ln>
                <a:noFill/>
              </a:ln>
              <a:solidFill>
                <a:srgbClr val="004EA2"/>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 name="文本框 13"/>
          <p:cNvSpPr txBox="1"/>
          <p:nvPr>
            <p:custDataLst>
              <p:tags r:id="rId5"/>
            </p:custDataLst>
          </p:nvPr>
        </p:nvSpPr>
        <p:spPr>
          <a:xfrm>
            <a:off x="6472645" y="4666615"/>
            <a:ext cx="4447903" cy="1529715"/>
          </a:xfrm>
          <a:prstGeom prst="rect">
            <a:avLst/>
          </a:prstGeom>
          <a:noFill/>
        </p:spPr>
        <p:txBody>
          <a:bodyPr wrap="square" rtlCol="0">
            <a:spAutoFit/>
          </a:body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数据集来源限定时间为</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2011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2012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年，其他年份的数据预测需要重新训练；</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模型没有专门训练极端情况下的预测结果，导致模型的泛化能力较低。</a:t>
            </a:r>
          </a:p>
        </p:txBody>
      </p:sp>
    </p:spTree>
    <p:extLst>
      <p:ext uri="{BB962C8B-B14F-4D97-AF65-F5344CB8AC3E}">
        <p14:creationId xmlns:p14="http://schemas.microsoft.com/office/powerpoint/2010/main" val="484302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txBox="1"/>
          <p:nvPr/>
        </p:nvSpPr>
        <p:spPr>
          <a:xfrm>
            <a:off x="2820730" y="2411424"/>
            <a:ext cx="6899065" cy="21460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2835"/>
              </a:spcBef>
              <a:buClr>
                <a:srgbClr val="FFFFFF"/>
              </a:buClr>
              <a:buSzPct val="150000"/>
            </a:pPr>
            <a:r>
              <a:rPr lang="zh-CN" altLang="en-US" b="1" dirty="0">
                <a:solidFill>
                  <a:srgbClr val="004EA2"/>
                </a:solidFill>
                <a:latin typeface="微软雅黑" panose="020B0503020204020204" pitchFamily="34" charset="-122"/>
                <a:ea typeface="微软雅黑" panose="020B0503020204020204" pitchFamily="34" charset="-122"/>
              </a:rPr>
              <a:t>展示到此结束</a:t>
            </a:r>
            <a:endParaRPr lang="en-US" altLang="zh-CN" b="1" dirty="0">
              <a:solidFill>
                <a:srgbClr val="004EA2"/>
              </a:solidFill>
              <a:latin typeface="微软雅黑" panose="020B0503020204020204" pitchFamily="34" charset="-122"/>
              <a:ea typeface="微软雅黑" panose="020B0503020204020204" pitchFamily="34" charset="-122"/>
            </a:endParaRPr>
          </a:p>
          <a:p>
            <a:pPr algn="ctr">
              <a:spcBef>
                <a:spcPts val="2835"/>
              </a:spcBef>
              <a:buClr>
                <a:srgbClr val="FFFFFF"/>
              </a:buClr>
              <a:buSzPct val="150000"/>
            </a:pPr>
            <a:r>
              <a:rPr lang="zh-CN" altLang="en-US" sz="5400" b="1" kern="1800" spc="100" dirty="0">
                <a:solidFill>
                  <a:srgbClr val="004EA2"/>
                </a:solidFill>
                <a:latin typeface="微软雅黑" panose="020B0503020204020204" pitchFamily="34" charset="-122"/>
                <a:ea typeface="微软雅黑" panose="020B0503020204020204" pitchFamily="34" charset="-122"/>
              </a:rPr>
              <a:t>恳请批评指正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2FiZDIzMjBhYjY3YjcwYmIxYWI1NjM4YzVmYjEyMDM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nb"/>
  <p:tag name="KSO_WM_UNIT_TYPE" val="m_h_i"/>
  <p:tag name="KSO_WM_UNIT_INDEX" val="1_1_2"/>
  <p:tag name="KSO_WM_UNIT_ID" val="diagram20236934_1*m_h_i*1_1_2"/>
  <p:tag name="KSO_WM_TEMPLATE_CATEGORY" val="diagram"/>
  <p:tag name="KSO_WM_TEMPLATE_INDEX" val="20236934"/>
  <p:tag name="KSO_WM_UNIT_LAYERLEVEL" val="1_1_1"/>
  <p:tag name="KSO_WM_TAG_VERSION" val="3.0"/>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MAX_ITEMCNT" val="5"/>
  <p:tag name="KSO_WM_DIAGRAM_MIN_ITEMCNT" val="4"/>
  <p:tag name="KSO_WM_DIAGRAM_VIRTUALLY_FRAME" val="{&quot;height&quot;:412.7601649246817,&quot;left&quot;:-120.20743183286172,&quot;top&quot;:39.95,&quot;width&quot;:960.77856445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12.7601649246817,&quot;left&quot;:-120.20743183286172,&quot;top&quot;:39.95,&quot;width&quot;:960.778564453125}"/>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4_1"/>
  <p:tag name="KSO_WM_UNIT_ID" val="diagram20236934_1*m_h_f*1_4_1"/>
  <p:tag name="KSO_WM_TEMPLATE_CATEGORY" val="diagram"/>
  <p:tag name="KSO_WM_TEMPLATE_INDEX" val="20236934"/>
  <p:tag name="KSO_WM_UNIT_LAYERLEVEL" val="1_1_1"/>
  <p:tag name="KSO_WM_TAG_VERSION" val="3.0"/>
  <p:tag name="KSO_WM_UNIT_VALUE" val="24"/>
  <p:tag name="KSO_WM_DIAGRAM_GROUP_CODE" val="m1-1"/>
  <p:tag name="KSO_WM_DIAGRAM_VERSION" val="3"/>
  <p:tag name="KSO_WM_DIAGRAM_COLOR_TRICK" val="1"/>
  <p:tag name="KSO_WM_DIAGRAM_COLOR_TEXT_CAN_REMOVE" val="n"/>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nb"/>
  <p:tag name="KSO_WM_UNIT_TYPE" val="m_h_i"/>
  <p:tag name="KSO_WM_UNIT_INDEX" val="1_4_2"/>
  <p:tag name="KSO_WM_UNIT_ID" val="diagram20236934_1*m_h_i*1_4_2"/>
  <p:tag name="KSO_WM_TEMPLATE_CATEGORY" val="diagram"/>
  <p:tag name="KSO_WM_TEMPLATE_INDEX" val="20236934"/>
  <p:tag name="KSO_WM_UNIT_LAYERLEVEL" val="1_1_1"/>
  <p:tag name="KSO_WM_TAG_VERSION" val="3.0"/>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MAX_ITEMCNT" val="5"/>
  <p:tag name="KSO_WM_DIAGRAM_MIN_ITEMCNT" val="4"/>
  <p:tag name="KSO_WM_DIAGRAM_VIRTUALLY_FRAME" val="{&quot;height&quot;:412.7601649246817,&quot;left&quot;:-120.20743183286172,&quot;top&quot;:39.95,&quot;width&quot;:960.77856445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12.7601649246817,&quot;left&quot;:-120.20743183286172,&quot;top&quot;:39.95,&quot;width&quot;:960.778564453125}"/>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3_1"/>
  <p:tag name="KSO_WM_UNIT_ID" val="diagram20236934_1*m_h_f*1_3_1"/>
  <p:tag name="KSO_WM_TEMPLATE_CATEGORY" val="diagram"/>
  <p:tag name="KSO_WM_TEMPLATE_INDEX" val="20236934"/>
  <p:tag name="KSO_WM_UNIT_LAYERLEVEL" val="1_1_1"/>
  <p:tag name="KSO_WM_TAG_VERSION" val="3.0"/>
  <p:tag name="KSO_WM_UNIT_VALUE" val="24"/>
  <p:tag name="KSO_WM_DIAGRAM_GROUP_CODE" val="m1-1"/>
  <p:tag name="KSO_WM_DIAGRAM_VERSION" val="3"/>
  <p:tag name="KSO_WM_DIAGRAM_COLOR_TRICK" val="1"/>
  <p:tag name="KSO_WM_DIAGRAM_COLOR_TEXT_CAN_REMOVE" val="n"/>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nb"/>
  <p:tag name="KSO_WM_UNIT_TYPE" val="m_h_i"/>
  <p:tag name="KSO_WM_UNIT_INDEX" val="1_3_2"/>
  <p:tag name="KSO_WM_UNIT_ID" val="diagram20236934_1*m_h_i*1_3_2"/>
  <p:tag name="KSO_WM_TEMPLATE_CATEGORY" val="diagram"/>
  <p:tag name="KSO_WM_TEMPLATE_INDEX" val="20236934"/>
  <p:tag name="KSO_WM_UNIT_LAYERLEVEL" val="1_1_1"/>
  <p:tag name="KSO_WM_TAG_VERSION" val="3.0"/>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MAX_ITEMCNT" val="5"/>
  <p:tag name="KSO_WM_DIAGRAM_MIN_ITEMCNT" val="4"/>
  <p:tag name="KSO_WM_DIAGRAM_VIRTUALLY_FRAME" val="{&quot;height&quot;:412.7601649246817,&quot;left&quot;:-120.20743183286172,&quot;top&quot;:39.95,&quot;width&quot;:960.77856445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12.7601649246817,&quot;left&quot;:-120.20743183286172,&quot;top&quot;:39.95,&quot;width&quot;:960.778564453125}"/>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2_1"/>
  <p:tag name="KSO_WM_UNIT_ID" val="diagram20236934_1*m_h_f*1_2_1"/>
  <p:tag name="KSO_WM_TEMPLATE_CATEGORY" val="diagram"/>
  <p:tag name="KSO_WM_TEMPLATE_INDEX" val="20236934"/>
  <p:tag name="KSO_WM_UNIT_LAYERLEVEL" val="1_1_1"/>
  <p:tag name="KSO_WM_TAG_VERSION" val="3.0"/>
  <p:tag name="KSO_WM_UNIT_VALUE" val="24"/>
  <p:tag name="KSO_WM_DIAGRAM_GROUP_CODE" val="m1-1"/>
  <p:tag name="KSO_WM_DIAGRAM_VERSION" val="3"/>
  <p:tag name="KSO_WM_DIAGRAM_COLOR_TRICK" val="1"/>
  <p:tag name="KSO_WM_DIAGRAM_COLOR_TEXT_CAN_REMOVE" val="n"/>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nb"/>
  <p:tag name="KSO_WM_UNIT_TYPE" val="m_h_i"/>
  <p:tag name="KSO_WM_UNIT_INDEX" val="1_2_4"/>
  <p:tag name="KSO_WM_UNIT_ID" val="diagram20236934_1*m_h_i*1_2_4"/>
  <p:tag name="KSO_WM_TEMPLATE_CATEGORY" val="diagram"/>
  <p:tag name="KSO_WM_TEMPLATE_INDEX" val="20236934"/>
  <p:tag name="KSO_WM_UNIT_LAYERLEVEL" val="1_1_1"/>
  <p:tag name="KSO_WM_TAG_VERSION" val="3.0"/>
  <p:tag name="KSO_WM_DIAGRAM_GROUP_CODE" val="m1-1"/>
  <p:tag name="KSO_WM_DIAGRAM_VERSION" val="3"/>
  <p:tag name="KSO_WM_DIAGRAM_COLOR_TRICK" val="1"/>
  <p:tag name="KSO_WM_DIAGRAM_COLOR_TEXT_CAN_REMOVE" val="n"/>
  <p:tag name="KSO_WM_UNIT_TEXT_FILL_FORE_SCHEMECOLOR_INDEX" val="1"/>
  <p:tag name="KSO_WM_UNIT_TEXT_FILL_TYPE" val="1"/>
  <p:tag name="KSO_WM_DIAGRAM_MAX_ITEMCNT" val="5"/>
  <p:tag name="KSO_WM_DIAGRAM_MIN_ITEMCNT" val="4"/>
  <p:tag name="KSO_WM_DIAGRAM_VIRTUALLY_FRAME" val="{&quot;height&quot;:412.7601649246817,&quot;left&quot;:-120.20743183286172,&quot;top&quot;:39.95,&quot;width&quot;:960.77856445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12.7601649246817,&quot;left&quot;:-120.20743183286172,&quot;top&quot;:39.95,&quot;width&quot;:960.778564453125}"/>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2_1"/>
  <p:tag name="KSO_WM_UNIT_ID" val="diagram20236934_1*m_h_f*1_2_1"/>
  <p:tag name="KSO_WM_TEMPLATE_CATEGORY" val="diagram"/>
  <p:tag name="KSO_WM_TEMPLATE_INDEX" val="20236934"/>
  <p:tag name="KSO_WM_UNIT_LAYERLEVEL" val="1_1_1"/>
  <p:tag name="KSO_WM_TAG_VERSION" val="3.0"/>
  <p:tag name="KSO_WM_UNIT_VALUE" val="24"/>
  <p:tag name="KSO_WM_DIAGRAM_GROUP_CODE" val="m1-1"/>
  <p:tag name="KSO_WM_DIAGRAM_VERSION" val="3"/>
  <p:tag name="KSO_WM_DIAGRAM_COLOR_TRICK" val="1"/>
  <p:tag name="KSO_WM_DIAGRAM_COLOR_TEXT_CAN_REMOVE" val="n"/>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2_3"/>
  <p:tag name="KSO_WM_UNIT_ID" val="diagram20236934_1*m_h_i*1_2_3"/>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2_1"/>
  <p:tag name="KSO_WM_UNIT_ID" val="diagram20236934_1*m_h_i*1_2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MAX_ITEMCNT" val="5"/>
  <p:tag name="KSO_WM_DIAGRAM_MIN_ITEMCNT" val="4"/>
  <p:tag name="KSO_WM_DIAGRAM_COLOR_MATCH_VALUE" val="{&quot;shape&quot;:{&quot;fill&quot;:{&quot;solid&quot;:{&quot;brightness&quot;:0.5,&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4_1"/>
  <p:tag name="KSO_WM_UNIT_ID" val="diagram20236934_1*m_h_i*1_4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2_1"/>
  <p:tag name="KSO_WM_UNIT_ID" val="diagram20236934_1*m_h_i*1_2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MAX_ITEMCNT" val="5"/>
  <p:tag name="KSO_WM_DIAGRAM_MIN_ITEMCNT" val="4"/>
  <p:tag name="KSO_WM_DIAGRAM_COLOR_MATCH_VALUE" val="{&quot;shape&quot;:{&quot;fill&quot;:{&quot;solid&quot;:{&quot;brightness&quot;:0.5,&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3_1"/>
  <p:tag name="KSO_WM_UNIT_ID" val="diagram20236934_1*m_h_i*1_3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2_1"/>
  <p:tag name="KSO_WM_UNIT_ID" val="diagram20236934_1*m_h_i*1_2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MAX_ITEMCNT" val="5"/>
  <p:tag name="KSO_WM_DIAGRAM_MIN_ITEMCNT" val="4"/>
  <p:tag name="KSO_WM_DIAGRAM_COLOR_MATCH_VALUE" val="{&quot;shape&quot;:{&quot;fill&quot;:{&quot;solid&quot;:{&quot;brightness&quot;:0.5,&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1_1"/>
  <p:tag name="KSO_WM_UNIT_ID" val="diagram20236934_1*m_h_i*1_1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21.0270153183825,&quot;left&quot;:-120.20743183286172,&quot;top&quot;:31.683149606299207,&quot;width&quot;:960.778564453125}"/>
  <p:tag name="KSO_WM_UNIT_HIGHLIGHT" val="0"/>
  <p:tag name="KSO_WM_UNIT_COMPATIBLE" val="0"/>
  <p:tag name="KSO_WM_UNIT_DIAGRAM_ISNUMVISUAL" val="0"/>
  <p:tag name="KSO_WM_UNIT_DIAGRAM_ISREFERUNIT" val="0"/>
  <p:tag name="KSO_WM_UNIT_TYPE" val="m_h_i"/>
  <p:tag name="KSO_WM_UNIT_INDEX" val="1_2_1"/>
  <p:tag name="KSO_WM_UNIT_ID" val="diagram20236934_1*m_h_i*1_2_1"/>
  <p:tag name="KSO_WM_TEMPLATE_CATEGORY" val="diagram"/>
  <p:tag name="KSO_WM_TEMPLATE_INDEX" val="20236934"/>
  <p:tag name="KSO_WM_UNIT_LAYERLEVEL" val="1_1_1"/>
  <p:tag name="KSO_WM_TAG_VERSION" val="3.0"/>
  <p:tag name="KSO_WM_BEAUTIFY_FLAG" val="#wm#"/>
  <p:tag name="KSO_WM_DIAGRAM_GROUP_CODE" val="m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MAX_ITEMCNT" val="5"/>
  <p:tag name="KSO_WM_DIAGRAM_MIN_ITEMCNT" val="4"/>
  <p:tag name="KSO_WM_DIAGRAM_COLOR_MATCH_VALUE" val="{&quot;shape&quot;:{&quot;fill&quot;:{&quot;solid&quot;:{&quot;brightness&quot;:0.5,&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7_3*l_h_f*1_3_1"/>
  <p:tag name="KSO_WM_TEMPLATE_CATEGORY" val="diagram"/>
  <p:tag name="KSO_WM_TEMPLATE_INDEX" val="2023197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56.168694683886,&quot;left&quot;:-65.25003051757812,&quot;top&quot;:31.73130531611405,&quot;width&quot;:965.552628942775}"/>
  <p:tag name="KSO_WM_DIAGRAM_COLOR_MATCH_VALUE" val="{&quot;shape&quot;:{&quot;fill&quot;:{&quot;solid&quot;:{&quot;brightness&quot;:0,&quot;colorType&quot;:2,&quot;rgb&quot;:&quot;#ffffff&quot;,&quot;transparency&quot;:0},&quot;type&quot;:1},&quot;glow&quot;:{&quot;colorType&quot;:0},&quot;line&quot;:{&quot;gradient&quot;:[{&quot;brightness&quot;:0.6000000238418579,&quot;colorType&quot;:1,&quot;foreColorIndex&quot;:5,&quot;pos&quot;:0,&quot;transparency&quot;:0.30000001192092896},{&quot;brightness&quot;:0.800000011920929,&quot;colorType&quot;:1,&quot;foreColorIndex&quot;:5,&quot;pos&quot;:1,&quot;transparency&quot;:1}],&quot;type&quot;:2},&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 name="KSO_WM_UNIT_LINE_FORE_SCHEMECOLOR_INDEX" val="5"/>
  <p:tag name="KSO_WM_UNIT_SHADOW_SCHEMECOLOR_INDEX" val="5"/>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56.168694683886,&quot;left&quot;:-65.25003051757812,&quot;top&quot;:31.73130531611405,&quot;width&quot;:965.5526289427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56.168694683886,&quot;left&quot;:-65.25003051757812,&quot;top&quot;:31.73130531611405,&quot;width&quot;:965.55262894277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56.168694683886,&quot;left&quot;:-65.25003051757812,&quot;top&quot;:31.73130531611405,&quot;width&quot;:965.55262894277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56.168694683886,&quot;left&quot;:-65.25003051757812,&quot;top&quot;:31.73130531611405,&quot;width&quot;:965.552628942775}"/>
</p:tagLst>
</file>

<file path=ppt/theme/theme1.xml><?xml version="1.0" encoding="utf-8"?>
<a:theme xmlns:a="http://schemas.openxmlformats.org/drawingml/2006/main" name="亮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1199</Words>
  <Application>Microsoft Office PowerPoint</Application>
  <PresentationFormat>宽屏</PresentationFormat>
  <Paragraphs>85</Paragraphs>
  <Slides>22</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等线</vt:lpstr>
      <vt:lpstr>等线 Light</vt:lpstr>
      <vt:lpstr>微软雅黑</vt:lpstr>
      <vt:lpstr>Arial</vt:lpstr>
      <vt:lpstr>亮_Office 主题​​</vt:lpstr>
      <vt:lpstr>共享单车租借量预测</vt:lpstr>
      <vt:lpstr>1、商业理解与题目要求  2、数据理解与预处理  3、SKLearn神经网络模型  4、Keras构建模型  5、评估和解释性分析 </vt:lpstr>
      <vt:lpstr>1、商业理解与题目要求</vt:lpstr>
      <vt:lpstr>PowerPoint 演示文稿</vt:lpstr>
      <vt:lpstr>PowerPoint 演示文稿</vt:lpstr>
      <vt:lpstr>2、数据理解与预处理</vt:lpstr>
      <vt:lpstr>PowerPoint 演示文稿</vt:lpstr>
      <vt:lpstr>PowerPoint 演示文稿</vt:lpstr>
      <vt:lpstr>PowerPoint 演示文稿</vt:lpstr>
      <vt:lpstr>PowerPoint 演示文稿</vt:lpstr>
      <vt:lpstr>PowerPoint 演示文稿</vt:lpstr>
      <vt:lpstr>3、SKLearn神经网络模型</vt:lpstr>
      <vt:lpstr>PowerPoint 演示文稿</vt:lpstr>
      <vt:lpstr>PowerPoint 演示文稿</vt:lpstr>
      <vt:lpstr>4、Keras构建模型</vt:lpstr>
      <vt:lpstr>PowerPoint 演示文稿</vt:lpstr>
      <vt:lpstr>PowerPoint 演示文稿</vt:lpstr>
      <vt:lpstr>PowerPoint 演示文稿</vt:lpstr>
      <vt:lpstr>5、评估和解释性分析</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zlxu</dc:creator>
  <cp:lastModifiedBy>黄 治宇</cp:lastModifiedBy>
  <cp:revision>117</cp:revision>
  <dcterms:created xsi:type="dcterms:W3CDTF">2018-09-21T01:27:00Z</dcterms:created>
  <dcterms:modified xsi:type="dcterms:W3CDTF">2024-12-25T12:36:09Z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DB3B081A8B0749D5BFDCCA9032125DAD_12</vt:lpwstr>
  </property>
  <property fmtid="{D5CDD505-2E9C-101B-9397-08002B2CF9AE}" pid="3" name="KSOProductBuildVer">
    <vt:lpwstr>2052-12.1.0.18276</vt:lpwstr>
  </property>
</Properties>
</file>